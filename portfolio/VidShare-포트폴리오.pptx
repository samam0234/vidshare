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68580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lang="ko-KR">
                <a:solidFill>
                  <a:srgbClr val="FFFFFF"/>
                </a:solidFill>
                <a:latin typeface="맑은 고딕"/>
                <a:ea typeface="맑은 고딕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68580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lang="ko-KR">
                <a:solidFill>
                  <a:srgbClr val="FFFFFF"/>
                </a:solidFill>
                <a:latin typeface="맑은 고딕"/>
                <a:ea typeface="맑은 고딕"/>
              </a:rPr>
              <a:t>VidShare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3EA6FF"/>
                </a:solidFill>
                <a:latin typeface="맑은 고딕"/>
                <a:ea typeface="맑은 고딕"/>
              </a:rPr>
              <a:t>풀스택 개인 프로젝트 · 2026.08 – 2026.10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영상을 올리고, 함께 보고,</a:t>
            </a:r>
          </a:p>
          <a:p>
            <a:pPr algn="l">
              <a:lnSpc>
                <a:spcPct val="112000"/>
              </a:lnSpc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운영까지 하는 플랫폼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8778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50" b="0" lang="ko-KR">
                <a:solidFill>
                  <a:srgbClr val="B9C2D6"/>
                </a:solidFill>
                <a:latin typeface="맑은 고딕"/>
                <a:ea typeface="맑은 고딕"/>
              </a:rPr>
              <a:t>숏폼 · 롱폼 · 커뮤니티 · 실시간 메시지 · AI 챗봇을 한 서비스에 담고,</a:t>
            </a:r>
          </a:p>
          <a:p>
            <a:pPr algn="l">
              <a:lnSpc>
                <a:spcPct val="150000"/>
              </a:lnSpc>
            </a:pPr>
            <a:r>
              <a:rPr sz="1550" b="0" lang="ko-KR">
                <a:solidFill>
                  <a:srgbClr val="B9C2D6"/>
                </a:solidFill>
                <a:latin typeface="맑은 고딕"/>
                <a:ea typeface="맑은 고딕"/>
              </a:rPr>
              <a:t>신고 처리와 계정 관리를 위한 관리자 콘솔까지 별도 앱으로 만들었습니다.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6235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573328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6172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lang="ko-KR">
                <a:solidFill>
                  <a:srgbClr val="8B96B5"/>
                </a:solidFill>
                <a:latin typeface="맑은 고딕"/>
                <a:ea typeface="맑은 고딕"/>
              </a:rPr>
              <a:t>애플리케이션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56235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573328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FFFFFF"/>
                </a:solidFill>
                <a:latin typeface="맑은 고딕"/>
                <a:ea typeface="맑은 고딕"/>
              </a:rPr>
              <a:t>82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6172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lang="ko-KR">
                <a:solidFill>
                  <a:srgbClr val="8B96B5"/>
                </a:solidFill>
                <a:latin typeface="맑은 고딕"/>
                <a:ea typeface="맑은 고딕"/>
              </a:rPr>
              <a:t>REST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56235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2352" y="573328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FFFFFF"/>
                </a:solidFill>
                <a:latin typeface="맑은 고딕"/>
                <a:ea typeface="맑은 고딕"/>
              </a:rPr>
              <a:t>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6172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lang="ko-KR">
                <a:solidFill>
                  <a:srgbClr val="8B96B5"/>
                </a:solidFill>
                <a:latin typeface="맑은 고딕"/>
                <a:ea typeface="맑은 고딕"/>
              </a:rPr>
              <a:t>DB 테이블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5160" y="56235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9752" y="573328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FFFFFF"/>
                </a:solidFill>
                <a:latin typeface="맑은 고딕"/>
                <a:ea typeface="맑은 고딕"/>
              </a:rPr>
              <a:t>191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2" y="6172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lang="ko-KR">
                <a:solidFill>
                  <a:srgbClr val="8B96B5"/>
                </a:solidFill>
                <a:latin typeface="맑은 고딕"/>
                <a:ea typeface="맑은 고딕"/>
              </a:rPr>
              <a:t>테스트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56235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573328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FFFFFF"/>
                </a:solidFill>
                <a:latin typeface="맑은 고딕"/>
                <a:ea typeface="맑은 고딕"/>
              </a:rPr>
              <a:t>188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6172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lang="ko-KR">
                <a:solidFill>
                  <a:srgbClr val="8B96B5"/>
                </a:solidFill>
                <a:latin typeface="맑은 고딕"/>
                <a:ea typeface="맑은 고딕"/>
              </a:rPr>
              <a:t>커밋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lang="ko-KR">
                <a:solidFill>
                  <a:srgbClr val="101623"/>
                </a:solidFill>
                <a:latin typeface="맑은 고딕"/>
                <a:ea typeface="맑은 고딕"/>
              </a:rPr>
              <a:t>무엇을 만들었는지 소개합니다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78308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1783080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프로젝트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783080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무엇이고, 왜 만들었는가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04872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0487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404872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핵심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04872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쇼츠부터 AI 챗봇까지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26664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2666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26664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사용자 화면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26664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실제 서비스 화면 둘러보기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48456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64845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48456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AI 챗봇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648456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3가지 모델, 대화 저장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270248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27024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4270248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관리자 콘솔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270248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신고·유저·콘텐츠 운영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892040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892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4892040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기술 스택 &amp; 규모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892040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무엇으로, 얼마나, 어디에서 운영하나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513832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5513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13832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회고 &amp; 다음 계획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5513832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잘한 점과 앞으로의 방향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3EA6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9C2D6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운영까지 넣으니</a:t>
            </a:r>
          </a:p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설계할 것이 달라졌다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01 ·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왜 이 서비스를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9875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550" b="0" lang="ko-KR">
                <a:solidFill>
                  <a:srgbClr val="2C3646"/>
                </a:solidFill>
                <a:latin typeface="맑은 고딕"/>
                <a:ea typeface="맑은 고딕"/>
              </a:rPr>
              <a:t>영상 플레이어 하나를 만드는 과제로는 배울 것이 금방 끝납니다. 그래서 콘텐츠 소비 → 창작 → 소통 → 운영까지, 서비스가 실제로 도는 한 사이클을 전부 통과해 보기로 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88920"/>
            <a:ext cx="10515600" cy="1143000"/>
          </a:xfrm>
          <a:prstGeom prst="roundRect">
            <a:avLst>
              <a:gd name="adj" fmla="val 8000"/>
            </a:avLst>
          </a:prstGeom>
          <a:solidFill>
            <a:srgbClr val="F0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999232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1" lang="ko-KR">
                <a:solidFill>
                  <a:srgbClr val="2C3646"/>
                </a:solidFill>
                <a:latin typeface="맑은 고딕"/>
                <a:ea typeface="맑은 고딕"/>
              </a:rPr>
              <a:t>운영을 범위에 넣은 것이 이 프로젝트의 성격을 결정했습니다.  </a:t>
            </a:r>
            <a:r>
              <a:rPr sz="1450" b="0" lang="ko-KR">
                <a:solidFill>
                  <a:srgbClr val="2C3646"/>
                </a:solidFill>
                <a:latin typeface="맑은 고딕"/>
                <a:ea typeface="맑은 고딕"/>
              </a:rPr>
              <a:t>신고가 들어오면 누가 보고 무엇을 근거로 지우는지, 정지된 계정은 어떻게 되는지 — 이런 질문은 사용자 화면만 만들어서는 마주칠 일이 없습니다.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343400"/>
            <a:ext cx="2468880" cy="169164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4544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300" b="1" lang="ko-KR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502920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소비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13248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쇼츠·롱폼 피드로</a:t>
            </a:r>
          </a:p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영상을 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4343400"/>
            <a:ext cx="2468880" cy="169164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30168" y="4544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300" b="1" lang="ko-KR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502920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창작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5413248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직접 올리고</a:t>
            </a:r>
          </a:p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커뮤니티에 공유한다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343400"/>
            <a:ext cx="2468880" cy="169164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6208" y="4544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300" b="1" lang="ko-KR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502920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소통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5413248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댓글·메시지·알림으로</a:t>
            </a:r>
          </a:p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서로 이어진다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41080" y="4343400"/>
            <a:ext cx="2468880" cy="169164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42248" y="4544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300" b="1" lang="ko-KR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2248" y="502920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5413248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신고·정지·삭제로</a:t>
            </a:r>
          </a:p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서비스를 관리한다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01 ·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세 개의 애플리케이션으로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ko-KR">
                <a:solidFill>
                  <a:srgbClr val="5F6B7F"/>
                </a:solidFill>
                <a:latin typeface="맑은 고딕"/>
                <a:ea typeface="맑은 고딕"/>
              </a:rPr>
              <a:t>사용자 웹앱과 관리자 콘솔을 별도 앱으로 분리하고, 하나의 API 서버가 둘을 함께 지원합니다.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2926080" cy="22860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926080" cy="109728"/>
          </a:xfrm>
          <a:prstGeom prst="roundRect">
            <a:avLst>
              <a:gd name="adj" fmla="val 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624328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lang="ko-KR">
                <a:solidFill>
                  <a:srgbClr val="101623"/>
                </a:solidFill>
                <a:latin typeface="맑은 고딕"/>
                <a:ea typeface="맑은 고딕"/>
              </a:rPr>
              <a:t>사용자 웹앱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044952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lang="ko-KR">
                <a:solidFill>
                  <a:srgbClr val="5F6B7F"/>
                </a:solidFill>
                <a:latin typeface="맑은 고딕"/>
                <a:ea typeface="맑은 고딕"/>
              </a:rPr>
              <a:t>FrontServer · :3000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502152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숏폼·롱폼·커뮤니티</a:t>
            </a:r>
          </a:p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메시지·알림·챗봇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2331720"/>
            <a:ext cx="2926080" cy="22860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17720" y="2331720"/>
            <a:ext cx="2926080" cy="109728"/>
          </a:xfrm>
          <a:prstGeom prst="roundRect">
            <a:avLst>
              <a:gd name="adj" fmla="val 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3752" y="2624328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lang="ko-KR">
                <a:solidFill>
                  <a:srgbClr val="101623"/>
                </a:solidFill>
                <a:latin typeface="맑은 고딕"/>
                <a:ea typeface="맑은 고딕"/>
              </a:rPr>
              <a:t>관리자 콘솔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2" y="3044952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lang="ko-KR">
                <a:solidFill>
                  <a:srgbClr val="5F6B7F"/>
                </a:solidFill>
                <a:latin typeface="맑은 고딕"/>
                <a:ea typeface="맑은 고딕"/>
              </a:rPr>
              <a:t>Console · :3200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502152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신고·유저·콘텐츠</a:t>
            </a:r>
          </a:p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고객센터·대시보드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331720"/>
            <a:ext cx="2926080" cy="22860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0" y="2331720"/>
            <a:ext cx="2926080" cy="109728"/>
          </a:xfrm>
          <a:prstGeom prst="roundRect">
            <a:avLst>
              <a:gd name="adj" fmla="val 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2624328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lang="ko-KR">
                <a:solidFill>
                  <a:srgbClr val="101623"/>
                </a:solidFill>
                <a:latin typeface="맑은 고딕"/>
                <a:ea typeface="맑은 고딕"/>
              </a:rPr>
              <a:t>API 서버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3044952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lang="ko-KR">
                <a:solidFill>
                  <a:srgbClr val="5F6B7F"/>
                </a:solidFill>
                <a:latin typeface="맑은 고딕"/>
                <a:ea typeface="맑은 고딕"/>
              </a:rPr>
              <a:t>BackendServer · :4000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3502152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REST API·PostgreSQL</a:t>
            </a:r>
          </a:p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실시간(SSE·WS)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86000" y="4617720"/>
            <a:ext cx="7589520" cy="502920"/>
          </a:xfrm>
          <a:prstGeom prst="line">
            <a:avLst/>
          </a:prstGeom>
          <a:ln w="15875">
            <a:solidFill>
              <a:srgbClr val="5F6B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80760" y="4617720"/>
            <a:ext cx="3794760" cy="502920"/>
          </a:xfrm>
          <a:prstGeom prst="line">
            <a:avLst/>
          </a:prstGeom>
          <a:ln w="15875">
            <a:solidFill>
              <a:srgbClr val="5F6B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5166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ko-KR">
                <a:solidFill>
                  <a:srgbClr val="4F46E5"/>
                </a:solidFill>
                <a:latin typeface="맑은 고딕"/>
                <a:ea typeface="맑은 고딕"/>
              </a:rPr>
              <a:t>포인트  </a:t>
            </a:r>
            <a:r>
              <a:rPr sz="1350" b="0" lang="ko-KR">
                <a:solidFill>
                  <a:srgbClr val="2C3646"/>
                </a:solidFill>
                <a:latin typeface="맑은 고딕"/>
                <a:ea typeface="맑은 고딕"/>
              </a:rPr>
              <a:t>두 프론트가 같은 백엔드를 보지만, 세션 쿠키 이름을 달리해 동시에 로그인해도 서로 영향이 없습니다.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3EA6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9C2D6"/>
                </a:solidFill>
                <a:latin typeface="맑은 고딕"/>
                <a:ea typeface="맑은 고딕"/>
              </a:rPr>
              <a:t>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쇼츠부터</a:t>
            </a:r>
          </a:p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AI 챗봇까지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lang="ko-KR">
                <a:solidFill>
                  <a:srgbClr val="B9C2D6"/>
                </a:solidFill>
                <a:latin typeface="맑은 고딕"/>
                <a:ea typeface="맑은 고딕"/>
              </a:rPr>
              <a:t>여덟 가지 영역을 한 서비스 안에 담았습니다.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02 · 핵심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기능 한눈에 보기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" y="1801368"/>
            <a:ext cx="457200" cy="457200"/>
          </a:xfrm>
          <a:prstGeom prst="ellipse">
            <a:avLst/>
          </a:prstGeom>
          <a:solidFill>
            <a:srgbClr val="4F46E5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801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0487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쇼츠 · 롱폼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77063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세로 스냅 피드, 좋아요·댓글, 실파일 업로드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60020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21608" y="1801368"/>
            <a:ext cx="457200" cy="457200"/>
          </a:xfrm>
          <a:prstGeom prst="ellipse">
            <a:avLst/>
          </a:prstGeom>
          <a:solidFill>
            <a:srgbClr val="4F46E5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1608" y="1801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240487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커뮤니티 · 소셜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277063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게시글 공유, 팔로우, 팔로잉 피드, 통합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0020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9088" y="1801368"/>
            <a:ext cx="457200" cy="457200"/>
          </a:xfrm>
          <a:prstGeom prst="ellipse">
            <a:avLst/>
          </a:prstGeom>
          <a:solidFill>
            <a:srgbClr val="4F46E5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01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40487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실시간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77063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SSE 알림, WebSocket 메시지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160020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16568" y="1801368"/>
            <a:ext cx="457200" cy="457200"/>
          </a:xfrm>
          <a:prstGeom prst="ellipse">
            <a:avLst/>
          </a:prstGeom>
          <a:solidFill>
            <a:srgbClr val="7C3AED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6568" y="1801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40487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AI 챗봇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277063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3가지 모델 티어, 대화 저장, 파일 첨부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70332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4128" y="3904488"/>
            <a:ext cx="457200" cy="457200"/>
          </a:xfrm>
          <a:prstGeom prst="ellipse">
            <a:avLst/>
          </a:prstGeom>
          <a:solidFill>
            <a:srgbClr val="B45309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39044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50799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모더레이션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87375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신고·차단, 피드 자동 필터링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0440" y="370332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21608" y="3904488"/>
            <a:ext cx="457200" cy="457200"/>
          </a:xfrm>
          <a:prstGeom prst="ellipse">
            <a:avLst/>
          </a:prstGeom>
          <a:solidFill>
            <a:srgbClr val="B45309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21608" y="39044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21608" y="450799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운영 콘솔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21608" y="487375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신고 처리·계정 정지·문의 답변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70332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19088" y="3904488"/>
            <a:ext cx="457200" cy="457200"/>
          </a:xfrm>
          <a:prstGeom prst="ellipse">
            <a:avLst/>
          </a:prstGeom>
          <a:solidFill>
            <a:srgbClr val="14B8A6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39044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450799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인증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487375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이메일 없이 가입, 세션 기반 로그인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370332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116568" y="3904488"/>
            <a:ext cx="457200" cy="457200"/>
          </a:xfrm>
          <a:prstGeom prst="ellipse">
            <a:avLst/>
          </a:prstGeom>
          <a:solidFill>
            <a:srgbClr val="14B8A6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16568" y="39044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6568" y="450799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법적 페이지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16568" y="487375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이용약관·개인정보처리방침·사업자 정보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3EA6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9C2D6"/>
                </a:solidFill>
                <a:latin typeface="맑은 고딕"/>
                <a:ea typeface="맑은 고딕"/>
              </a:rPr>
              <a:t>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실제 서비스</a:t>
            </a:r>
          </a:p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화면입니다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lang="ko-KR">
                <a:solidFill>
                  <a:srgbClr val="B9C2D6"/>
                </a:solidFill>
                <a:latin typeface="맑은 고딕"/>
                <a:ea typeface="맑은 고딕"/>
              </a:rPr>
              <a:t>목업이 아니라 실행 중인 앱을 그대로 캡처했습니다.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03 · 사용자 화면 — 쇼츠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세로로 넘겨보는 쇼츠 피드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>짧은 영상을 세로 스냅으로 빠르게 넘기며 봅니다. 좋아요·싫어요, 댓글, 공유가 화면 안에서 바로 이루어지고 비회원도 로그인 없이 열람할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626364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세로 스냅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9052" y="3566160"/>
            <a:ext cx="722376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좋아요·댓글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91156" y="3566160"/>
            <a:ext cx="1010412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비회원 열람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77399" y="640080"/>
            <a:ext cx="2767442" cy="5760720"/>
          </a:xfrm>
          <a:prstGeom prst="roundRect">
            <a:avLst>
              <a:gd name="adj" fmla="val 9000"/>
            </a:avLst>
          </a:prstGeom>
          <a:solidFill>
            <a:srgbClr val="0D1220"/>
          </a:solidFill>
          <a:ln>
            <a:noFill/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ront-feed-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695" y="722376"/>
            <a:ext cx="2602850" cy="5596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03 · 사용자 화면 — 커뮤니티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영상을 이야기로 잇는 커뮤니티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>올린 영상을 커뮤니티 글로 공유해 같이 보고 이야기할 수 있습니다. 글마다 일련번호가 붙어 상세 페이지에서 확인할 수 있고, 댓글과 대댓글로 대화가 이어집니다.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722376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게시글 공유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5064" y="3566160"/>
            <a:ext cx="722376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댓글·대댓글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87168" y="3566160"/>
            <a:ext cx="530352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일련번호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573911"/>
            <a:ext cx="5760720" cy="38930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97296" y="168363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0" y="168363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89904" y="168363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ront-commu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66519"/>
            <a:ext cx="5760720" cy="3600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03 · 사용자 화면 — 검색·프로필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통합 검색과 프로필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>쇼츠·롱폼·커뮤니티·유저 네 영역을 한 번에 검색합니다. 프로필에서는 올린 영상, 팔로워·팔로잉, 재생목록을 탭으로 나눠 볼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626364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통합 검색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9052" y="3566160"/>
            <a:ext cx="434340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팔로우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3566160"/>
            <a:ext cx="530352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재생목록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573911"/>
            <a:ext cx="5760720" cy="38930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97296" y="168363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0" y="168363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89904" y="168363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ront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66519"/>
            <a:ext cx="5760720" cy="3600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03 · 사용자 화면 — 실시간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실시간 메시지와 알림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>1:1 메시지는 WebSocket으로 실시간 송수신됩니다. 알림은 SSE로 즉시 도착하며, 읽음 처리와 전체 삭제도 확인 절차를 거쳐 안전하게 이루어집니다.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1010412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WebSocket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3100" y="3566160"/>
            <a:ext cx="722376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SSE 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5204" y="3566160"/>
            <a:ext cx="434340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실시간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573911"/>
            <a:ext cx="5760720" cy="38930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97296" y="168363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0" y="168363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89904" y="168363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ront-mess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66519"/>
            <a:ext cx="5760720" cy="3600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3EA6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9C2D6"/>
                </a:solidFill>
                <a:latin typeface="맑은 고딕"/>
                <a:ea typeface="맑은 고딕"/>
              </a:rPr>
              <a:t>AI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대화를 나누는</a:t>
            </a:r>
          </a:p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AI 챗봇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lang="ko-KR">
                <a:solidFill>
                  <a:srgbClr val="B9C2D6"/>
                </a:solidFill>
                <a:latin typeface="맑은 고딕"/>
                <a:ea typeface="맑은 고딕"/>
              </a:rPr>
              <a:t>세 가지 모델 티어로 나눠 구성했습니다.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7C3AED"/>
                </a:solidFill>
                <a:latin typeface="맑은 고딕"/>
                <a:ea typeface="맑은 고딕"/>
              </a:rPr>
              <a:t>04 · AI 챗봇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3가지 모델, 저장되는 대화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>누구나 쓸 수 있는 무료 모델부터, 로그인한 회원을 위한 대화 요약·저장 모델까지 세 단계로 나눴습니다.</a:t>
            </a:r>
          </a:p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>이미지·PDF·문서 파일을 첨부해 질문할 수 있고, 답변은 굵게·목록 등 마크다운으로 보기 좋게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246120"/>
            <a:ext cx="4572000" cy="566928"/>
          </a:xfrm>
          <a:prstGeom prst="roundRect">
            <a:avLst>
              <a:gd name="adj" fmla="val 2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3392424"/>
            <a:ext cx="274320" cy="2743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246120"/>
            <a:ext cx="1188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lang="ko-KR">
                <a:solidFill>
                  <a:srgbClr val="101623"/>
                </a:solidFill>
                <a:latin typeface="맑은 고딕"/>
                <a:ea typeface="맑은 고딕"/>
              </a:rPr>
              <a:t>Locals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2461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무료 · 비회원 가능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4572000" cy="566928"/>
          </a:xfrm>
          <a:prstGeom prst="roundRect">
            <a:avLst>
              <a:gd name="adj" fmla="val 2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4078224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3931920"/>
            <a:ext cx="1188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lang="ko-KR">
                <a:solidFill>
                  <a:srgbClr val="101623"/>
                </a:solidFill>
                <a:latin typeface="맑은 고딕"/>
                <a:ea typeface="맑은 고딕"/>
              </a:rPr>
              <a:t>Vide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9319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회원 전용 · 대화 요약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17720"/>
            <a:ext cx="4572000" cy="566928"/>
          </a:xfrm>
          <a:prstGeom prst="roundRect">
            <a:avLst>
              <a:gd name="adj" fmla="val 2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0120" y="4764024"/>
            <a:ext cx="274320" cy="274320"/>
          </a:xfrm>
          <a:prstGeom prst="ellipse">
            <a:avLst/>
          </a:prstGeom>
          <a:solidFill>
            <a:srgbClr val="3E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4617720"/>
            <a:ext cx="1188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lang="ko-KR">
                <a:solidFill>
                  <a:srgbClr val="101623"/>
                </a:solidFill>
                <a:latin typeface="맑은 고딕"/>
                <a:ea typeface="맑은 고딕"/>
              </a:rPr>
              <a:t>Shape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6177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회원 전용 · 대화 기억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573911"/>
            <a:ext cx="5760720" cy="38930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97296" y="168363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0" y="168363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89904" y="168363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ront-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66519"/>
            <a:ext cx="5760720" cy="36004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3EA6FF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9C2D6"/>
                </a:solidFill>
                <a:latin typeface="맑은 고딕"/>
                <a:ea typeface="맑은 고딕"/>
              </a:rPr>
              <a:t>ADMIN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운영까지 갖춘</a:t>
            </a:r>
          </a:p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관리자 콘솔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lang="ko-KR">
                <a:solidFill>
                  <a:srgbClr val="B9C2D6"/>
                </a:solidFill>
                <a:latin typeface="맑은 고딕"/>
                <a:ea typeface="맑은 고딕"/>
              </a:rPr>
              <a:t>신고 처리부터 계정 정지까지, 별도 앱으로 만들었습니다.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B45309"/>
                </a:solidFill>
                <a:latin typeface="맑은 고딕"/>
                <a:ea typeface="맑은 고딕"/>
              </a:rPr>
              <a:t>05 · 관리자 콘솔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운영 대시보드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 lang="ko-KR">
                <a:solidFill>
                  <a:srgbClr val="2C3646"/>
                </a:solidFill>
                <a:latin typeface="맑은 고딕"/>
                <a:ea typeface="맑은 고딕"/>
              </a:rPr>
              <a:t>미처리 신고, 미답변 문의, 정지 계정 수를 한눈에 보여줍니다. "처리해야 할 일이 남아 있는지"가 운영자에게 가장 먼저 필요한 정보이기 때문입니다.</a:t>
            </a:r>
          </a:p>
          <a:p>
            <a:pPr algn="l">
              <a:lnSpc>
                <a:spcPct val="155000"/>
              </a:lnSpc>
            </a:pPr>
            <a:r>
              <a:rPr sz="1350" b="0" lang="ko-KR">
                <a:solidFill>
                  <a:srgbClr val="2C3646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 lang="ko-KR">
                <a:solidFill>
                  <a:srgbClr val="2C3646"/>
                </a:solidFill>
                <a:latin typeface="맑은 고딕"/>
                <a:ea typeface="맑은 고딕"/>
              </a:rPr>
              <a:t>사용자 웹앱과는 세션 쿠키 이름부터 다른 별도 애플리케이션으로 만들어, 같은 브라우저에서 두 화면을 동시에 열어 두고 확인할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532120"/>
            <a:ext cx="626364" cy="329184"/>
          </a:xfrm>
          <a:prstGeom prst="roundRect">
            <a:avLst>
              <a:gd name="adj" fmla="val 50000"/>
            </a:avLst>
          </a:prstGeom>
          <a:solidFill>
            <a:srgbClr val="FD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B45309"/>
                </a:solidFill>
                <a:latin typeface="맑은 고딕"/>
                <a:ea typeface="맑은 고딕"/>
              </a:rPr>
              <a:t>별도 세션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9052" y="5532120"/>
            <a:ext cx="722376" cy="329184"/>
          </a:xfrm>
          <a:prstGeom prst="roundRect">
            <a:avLst>
              <a:gd name="adj" fmla="val 50000"/>
            </a:avLst>
          </a:prstGeom>
          <a:solidFill>
            <a:srgbClr val="FD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B45309"/>
                </a:solidFill>
                <a:latin typeface="맑은 고딕"/>
                <a:ea typeface="맑은 고딕"/>
              </a:rPr>
              <a:t>실시간 지표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573911"/>
            <a:ext cx="5760720" cy="38930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97296" y="168363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0" y="168363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9904" y="168363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nsol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66519"/>
            <a:ext cx="5760720" cy="3600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B45309"/>
                </a:solidFill>
                <a:latin typeface="맑은 고딕"/>
                <a:ea typeface="맑은 고딕"/>
              </a:rPr>
              <a:t>05 · 관리자 콘솔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신고 처리부터 문의 답변까지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05381"/>
            <a:ext cx="3383280" cy="24071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6" y="201510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201510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43584" y="201510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sole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97989"/>
            <a:ext cx="3383280" cy="21145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892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lang="ko-KR">
                <a:solidFill>
                  <a:srgbClr val="101623"/>
                </a:solidFill>
                <a:latin typeface="맑은 고딕"/>
                <a:ea typeface="맑은 고딕"/>
              </a:rPr>
              <a:t>신고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85232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상태별 조회, 조치함/반려 처리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05381"/>
            <a:ext cx="3383280" cy="24071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71416" y="201510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17720" y="201510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64024" y="201510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nsole-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197989"/>
            <a:ext cx="3383280" cy="21145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43400" y="4892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lang="ko-KR">
                <a:solidFill>
                  <a:srgbClr val="101623"/>
                </a:solidFill>
                <a:latin typeface="맑은 고딕"/>
                <a:ea typeface="맑은 고딕"/>
              </a:rPr>
              <a:t>유저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5285232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계정 검색, 정지·해제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1905381"/>
            <a:ext cx="3383280" cy="24071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91856" y="201510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38160" y="201510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84464" y="201510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nsole-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197989"/>
            <a:ext cx="3383280" cy="21145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863840" y="4892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lang="ko-KR">
                <a:solidFill>
                  <a:srgbClr val="101623"/>
                </a:solidFill>
                <a:latin typeface="맑은 고딕"/>
                <a:ea typeface="맑은 고딕"/>
              </a:rPr>
              <a:t>콘텐츠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5285232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쇼츠·롱폼·커뮤니티 삭제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3EA6FF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9C2D6"/>
                </a:solidFill>
                <a:latin typeface="맑은 고딕"/>
                <a:ea typeface="맑은 고딕"/>
              </a:rPr>
              <a:t>TECH &amp;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무엇으로,</a:t>
            </a:r>
          </a:p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얼마나 만들었나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06 · 기술 스택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사용한 기술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1907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프론트엔드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1691640"/>
            <a:ext cx="1106424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Next.js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67912" y="169164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React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91640"/>
            <a:ext cx="1106424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TypeScript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8192" y="1691640"/>
            <a:ext cx="1586484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Tailwind CSS v4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04404" y="169164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TanStack 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9631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백엔드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2468880"/>
            <a:ext cx="818388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Node.js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79876" y="2468880"/>
            <a:ext cx="818388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Express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7992" y="2468880"/>
            <a:ext cx="1106424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PostgreSQL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24144" y="2468880"/>
            <a:ext cx="1010412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WebSocket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44284" y="2468880"/>
            <a:ext cx="434340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SSE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27355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3246120"/>
            <a:ext cx="1010412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LangChain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71900" y="3246120"/>
            <a:ext cx="1010412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LangGraph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3246120"/>
            <a:ext cx="1394460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Google Gemini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96228" y="3246120"/>
            <a:ext cx="530352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5079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배포·운영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4023360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Cloudflare Workers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36007" y="4023360"/>
            <a:ext cx="1298448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Oracle Cloud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44183" y="402336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GitHub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257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1" lang="ko-KR">
                <a:solidFill>
                  <a:srgbClr val="4F46E5"/>
                </a:solidFill>
                <a:latin typeface="맑은 고딕"/>
                <a:ea typeface="맑은 고딕"/>
              </a:rPr>
              <a:t>왜 이렇게 골랐나  </a:t>
            </a:r>
            <a:r>
              <a:rPr sz="1350" b="0" lang="ko-KR">
                <a:solidFill>
                  <a:srgbClr val="2C3646"/>
                </a:solidFill>
                <a:latin typeface="맑은 고딕"/>
                <a:ea typeface="맑은 고딕"/>
              </a:rPr>
              <a:t>모두가 아는 인기 기술을 그대로 쓰기보다, 이 규모(개인 프로젝트, 3개 앱)에 맞는 것을 택했습니다. 예를 들어 처음엔 설치가 필요 없는 SQLite 로 시작했고, 실제 서버에 올리기로 하면서 백업과 이력 관리가 되는 PostgreSQL 로 옮겼습니다.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3EA6FF"/>
                </a:solidFill>
                <a:latin typeface="맑은 고딕"/>
                <a:ea typeface="맑은 고딕"/>
              </a:rPr>
              <a:t>06 · 프로젝트 규모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FFFFFF"/>
                </a:solidFill>
                <a:latin typeface="맑은 고딕"/>
                <a:ea typeface="맑은 고딕"/>
              </a:rPr>
              <a:t>숫자로 보는 VidShare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3291840" cy="1691639"/>
          </a:xfrm>
          <a:prstGeom prst="roundRect">
            <a:avLst>
              <a:gd name="adj" fmla="val 10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75688"/>
            <a:ext cx="2880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lang="ko-KR">
                <a:solidFill>
                  <a:srgbClr val="FFFFFF"/>
                </a:solidFill>
                <a:latin typeface="맑은 고딕"/>
                <a:ea typeface="맑은 고딕"/>
              </a:rPr>
              <a:t>16,100+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lang="ko-KR">
                <a:solidFill>
                  <a:srgbClr val="B9C2D6"/>
                </a:solidFill>
                <a:latin typeface="맑은 고딕"/>
                <a:ea typeface="맑은 고딕"/>
              </a:rPr>
              <a:t>줄의 TypeScript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83080"/>
            <a:ext cx="3291840" cy="1691639"/>
          </a:xfrm>
          <a:prstGeom prst="roundRect">
            <a:avLst>
              <a:gd name="adj" fmla="val 10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2075688"/>
            <a:ext cx="2880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lang="ko-KR">
                <a:solidFill>
                  <a:srgbClr val="FFFFFF"/>
                </a:solidFill>
                <a:latin typeface="맑은 고딕"/>
                <a:ea typeface="맑은 고딕"/>
              </a:rPr>
              <a:t>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83464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lang="ko-KR">
                <a:solidFill>
                  <a:srgbClr val="B9C2D6"/>
                </a:solidFill>
                <a:latin typeface="맑은 고딕"/>
                <a:ea typeface="맑은 고딕"/>
              </a:rPr>
              <a:t>REST API 엔드포인트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783080"/>
            <a:ext cx="3291840" cy="1691639"/>
          </a:xfrm>
          <a:prstGeom prst="roundRect">
            <a:avLst>
              <a:gd name="adj" fmla="val 10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075688"/>
            <a:ext cx="2880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lang="ko-KR">
                <a:solidFill>
                  <a:srgbClr val="FFFFFF"/>
                </a:solidFill>
                <a:latin typeface="맑은 고딕"/>
                <a:ea typeface="맑은 고딕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83464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lang="ko-KR">
                <a:solidFill>
                  <a:srgbClr val="B9C2D6"/>
                </a:solidFill>
                <a:latin typeface="맑은 고딕"/>
                <a:ea typeface="맑은 고딕"/>
              </a:rPr>
              <a:t>데이터베이스 테이블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40479"/>
            <a:ext cx="3291840" cy="1691639"/>
          </a:xfrm>
          <a:prstGeom prst="roundRect">
            <a:avLst>
              <a:gd name="adj" fmla="val 10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133087"/>
            <a:ext cx="2880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lang="ko-KR">
                <a:solidFill>
                  <a:srgbClr val="FFFFFF"/>
                </a:solidFill>
                <a:latin typeface="맑은 고딕"/>
                <a:ea typeface="맑은 고딕"/>
              </a:rPr>
              <a:t>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92039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lang="ko-KR">
                <a:solidFill>
                  <a:srgbClr val="B9C2D6"/>
                </a:solidFill>
                <a:latin typeface="맑은 고딕"/>
                <a:ea typeface="맑은 고딕"/>
              </a:rPr>
              <a:t>화면 (사용자 27 · 관리자 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840479"/>
            <a:ext cx="3291840" cy="1691639"/>
          </a:xfrm>
          <a:prstGeom prst="roundRect">
            <a:avLst>
              <a:gd name="adj" fmla="val 10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133087"/>
            <a:ext cx="2880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lang="ko-KR">
                <a:solidFill>
                  <a:srgbClr val="FFFFFF"/>
                </a:solidFill>
                <a:latin typeface="맑은 고딕"/>
                <a:ea typeface="맑은 고딕"/>
              </a:rPr>
              <a:t>191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892039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lang="ko-KR">
                <a:solidFill>
                  <a:srgbClr val="B9C2D6"/>
                </a:solidFill>
                <a:latin typeface="맑은 고딕"/>
                <a:ea typeface="맑은 고딕"/>
              </a:rPr>
              <a:t>자동화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3840479"/>
            <a:ext cx="3291840" cy="1691639"/>
          </a:xfrm>
          <a:prstGeom prst="roundRect">
            <a:avLst>
              <a:gd name="adj" fmla="val 10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133087"/>
            <a:ext cx="2880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lang="ko-KR">
                <a:solidFill>
                  <a:srgbClr val="FFFFFF"/>
                </a:solidFill>
                <a:latin typeface="맑은 고딕"/>
                <a:ea typeface="맑은 고딕"/>
              </a:rPr>
              <a:t>188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92039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lang="ko-KR">
                <a:solidFill>
                  <a:srgbClr val="B9C2D6"/>
                </a:solidFill>
                <a:latin typeface="맑은 고딕"/>
                <a:ea typeface="맑은 고딕"/>
              </a:rPr>
              <a:t>커밋 (커밋마다 상세 기록)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06 · 운영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켜 두면 계속 돌아가는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ko-KR">
                <a:solidFill>
                  <a:srgbClr val="5F6B7F"/>
                </a:solidFill>
                <a:latin typeface="맑은 고딕"/>
                <a:ea typeface="맑은 고딕"/>
              </a:rPr>
              <a:t>내 PC 에서만 돌던 서버를 꺼지지 않는 클라우드 서버로 옮겼고, 지금 실제로 운영 중입니다.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3246120" cy="20574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3246120" cy="109728"/>
          </a:xfrm>
          <a:prstGeom prst="roundRect">
            <a:avLst>
              <a:gd name="adj" fmla="val 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532888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lang="ko-KR">
                <a:solidFill>
                  <a:srgbClr val="101623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953512"/>
            <a:ext cx="2788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lang="ko-KR">
                <a:solidFill>
                  <a:srgbClr val="5F6B7F"/>
                </a:solidFill>
                <a:latin typeface="맑은 고딕"/>
                <a:ea typeface="맑은 고딕"/>
              </a:rPr>
              <a:t>Cloudflare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사용자 사이트 · 관리자 콘솔</a:t>
            </a:r>
          </a:p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전 세계 가까운 곳에서 응답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9080" y="3268980"/>
            <a:ext cx="384048" cy="0"/>
          </a:xfrm>
          <a:prstGeom prst="line">
            <a:avLst/>
          </a:prstGeom>
          <a:ln w="19050">
            <a:solidFill>
              <a:srgbClr val="5F6B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453128" y="2240280"/>
            <a:ext cx="3246120" cy="20574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53128" y="2240280"/>
            <a:ext cx="3246120" cy="109728"/>
          </a:xfrm>
          <a:prstGeom prst="roundRect">
            <a:avLst>
              <a:gd name="adj" fmla="val 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532888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lang="ko-KR">
                <a:solidFill>
                  <a:srgbClr val="101623"/>
                </a:solidFill>
                <a:latin typeface="맑은 고딕"/>
                <a:ea typeface="맑은 고딕"/>
              </a:rPr>
              <a:t>서버 · 데이터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953512"/>
            <a:ext cx="2788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lang="ko-KR">
                <a:solidFill>
                  <a:srgbClr val="5F6B7F"/>
                </a:solidFill>
                <a:latin typeface="맑은 고딕"/>
                <a:ea typeface="맑은 고딕"/>
              </a:rPr>
              <a:t>Oracle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383280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API 서버 + PostgreSQL 전용 서버</a:t>
            </a:r>
          </a:p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24시간 가동, 터널로 HTTPS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99248" y="3268980"/>
            <a:ext cx="384048" cy="0"/>
          </a:xfrm>
          <a:prstGeom prst="line">
            <a:avLst/>
          </a:prstGeom>
          <a:ln w="19050">
            <a:solidFill>
              <a:srgbClr val="5F6B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83296" y="2240280"/>
            <a:ext cx="3246120" cy="20574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83296" y="2240280"/>
            <a:ext cx="3246120" cy="109728"/>
          </a:xfrm>
          <a:prstGeom prst="roundRect">
            <a:avLst>
              <a:gd name="adj" fmla="val 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8" y="2532888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lang="ko-KR">
                <a:solidFill>
                  <a:srgbClr val="101623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953512"/>
            <a:ext cx="2788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lang="ko-KR">
                <a:solidFill>
                  <a:srgbClr val="5F6B7F"/>
                </a:solidFill>
                <a:latin typeface="맑은 고딕"/>
                <a:ea typeface="맑은 고딕"/>
              </a:rPr>
              <a:t>내 PC (D 드라이브)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3383280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매일 새벽 데이터 사본을</a:t>
            </a:r>
          </a:p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내려받아 보관 · 복원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57200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4F46E5"/>
                </a:solidFill>
                <a:latin typeface="맑은 고딕"/>
                <a:ea typeface="맑은 고딕"/>
              </a:rPr>
              <a:t>183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645152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lang="ko-KR">
                <a:solidFill>
                  <a:srgbClr val="2C3646"/>
                </a:solidFill>
                <a:latin typeface="맑은 고딕"/>
                <a:ea typeface="맑은 고딕"/>
              </a:rPr>
              <a:t>개의 자동 검사가 코드를 올릴 때마다 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57200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4F46E5"/>
                </a:solidFill>
                <a:latin typeface="맑은 고딕"/>
                <a:ea typeface="맑은 고딕"/>
              </a:rPr>
              <a:t>151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4645152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lang="ko-KR">
                <a:solidFill>
                  <a:srgbClr val="2C3646"/>
                </a:solidFill>
                <a:latin typeface="맑은 고딕"/>
                <a:ea typeface="맑은 고딕"/>
              </a:rPr>
              <a:t>건의 기존 데이터를 새 데이터베이스로 빠짐없이 이전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57200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4F46E5"/>
                </a:solidFill>
                <a:latin typeface="맑은 고딕"/>
                <a:ea typeface="맑은 고딕"/>
              </a:rPr>
              <a:t>1번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645152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lang="ko-KR">
                <a:solidFill>
                  <a:srgbClr val="2C3646"/>
                </a:solidFill>
                <a:latin typeface="맑은 고딕"/>
                <a:ea typeface="맑은 고딕"/>
              </a:rPr>
              <a:t>명령으로 백업 → 업데이트 → 상태 확인까지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ko-KR">
                <a:solidFill>
                  <a:srgbClr val="4F46E5"/>
                </a:solidFill>
                <a:latin typeface="맑은 고딕"/>
                <a:ea typeface="맑은 고딕"/>
              </a:rPr>
              <a:t>운영 중  </a:t>
            </a:r>
            <a:r>
              <a:rPr sz="1350" b="0" lang="ko-KR">
                <a:solidFill>
                  <a:srgbClr val="2C3646"/>
                </a:solidFill>
                <a:latin typeface="맑은 고딕"/>
                <a:ea typeface="맑은 고딕"/>
              </a:rPr>
              <a:t>링크 하나로 로그인 · 실시간 메시지 · 알림까지 동작합니다. 서버 주소가 바뀌면 매시간 자동으로 다시 배포합니다.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07 · 회고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잘한 점 &amp; 아쉬운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5803D"/>
                </a:solidFill>
                <a:latin typeface="맑은 고딕"/>
                <a:ea typeface="맑은 고딕"/>
              </a:rPr>
              <a:t>잘한 결정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084832"/>
            <a:ext cx="128016" cy="128016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관리자 콘솔을 별도 앱으로 분리 — 권한 경계를 진지하게 설계하게 됨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953512"/>
            <a:ext cx="128016" cy="128016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8036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모든 통신을 한 파일(lib/api.ts)로 모아 — 저장 방식이 바뀌어도 고칠 곳이 한 곳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822192"/>
            <a:ext cx="128016" cy="128016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74904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한계를 문서에 그대로 적어 둠 — 모르는 것과 알고 미룬 것은 다르다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544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42318"/>
                </a:solidFill>
                <a:latin typeface="맑은 고딕"/>
                <a:ea typeface="맑은 고딕"/>
              </a:rPr>
              <a:t>아쉬운 점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2084832"/>
            <a:ext cx="128016" cy="128016"/>
          </a:xfrm>
          <a:prstGeom prst="ellipse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자동 검사를 늦게 깖 — 테스트를 170건 넘게 만들고도 한동안 손으로 실행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0" y="2953512"/>
            <a:ext cx="128016" cy="128016"/>
          </a:xfrm>
          <a:prstGeom prst="ellipse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88036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일부 코드 파일이 비대해짐 — 초반에 나눴다면 지금 분할 비용이 없었을 것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822192"/>
            <a:ext cx="128016" cy="128016"/>
          </a:xfrm>
          <a:prstGeom prst="ellipse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74904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성능·접근성을 측정한 적이 없음 — 기능이 안정된 지금이 잴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07 · 다음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앞으로의 방향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400" b="1" lang="ko-KR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73352"/>
            <a:ext cx="2834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주소 고정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91640"/>
            <a:ext cx="6675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도메인 연결 — 지금은 임시 주소를 매시간 자동으로 맞추는 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400" b="1" lang="ko-KR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450592"/>
            <a:ext cx="2834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보안 강화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468880"/>
            <a:ext cx="6675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Rate limiting, 보안 헤더, 입력 검증 스키마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461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400" b="1" lang="ko-KR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227832"/>
            <a:ext cx="2834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운영 감사 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46120"/>
            <a:ext cx="6675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관리자가 무엇을 했는지 추적할 수 있게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233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400" b="1" lang="ko-KR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4005072"/>
            <a:ext cx="2834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접근성 · 성능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023360"/>
            <a:ext cx="6675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기능이 안정된 지금, 기준선을 측정하고 개선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8006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400" b="1" lang="ko-KR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782312"/>
            <a:ext cx="2834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영상 저장소 분리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800600"/>
            <a:ext cx="6675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업로드가 늘면 전용 저장소로 옮겨 서버 부담을 덜기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lang="ko-KR">
                <a:solidFill>
                  <a:srgbClr val="FFFFFF"/>
                </a:solidFill>
                <a:latin typeface="맑은 고딕"/>
                <a:ea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lang="ko-KR">
                <a:solidFill>
                  <a:srgbClr val="B9C2D6"/>
                </a:solidFill>
                <a:latin typeface="맑은 고딕"/>
                <a:ea typeface="맑은 고딕"/>
              </a:rPr>
              <a:t>더 자세한 내용은 아래 소개 사이트와 문서에서 확인하실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3EA6FF"/>
                </a:solidFill>
                <a:latin typeface="맑은 고딕"/>
                <a:ea typeface="맑은 고딕"/>
              </a:rPr>
              <a:t>포트폴리오 소개 사이트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4343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B9C2D6"/>
                </a:solidFill>
                <a:latin typeface="맑은 고딕"/>
                <a:ea typeface="맑은 고딕"/>
              </a:rPr>
              <a:t>portfolio/site/index.html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3EA6FF"/>
                </a:solidFill>
                <a:latin typeface="맑은 고딕"/>
                <a:ea typeface="맑은 고딕"/>
              </a:rPr>
              <a:t>사용자 사이트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4800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B9C2D6"/>
                </a:solidFill>
                <a:latin typeface="맑은 고딕"/>
                <a:ea typeface="맑은 고딕"/>
              </a:rPr>
              <a:t>vidshare-front.limjinheng0120.workers.dev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3EA6FF"/>
                </a:solidFill>
                <a:latin typeface="맑은 고딕"/>
                <a:ea typeface="맑은 고딕"/>
              </a:rPr>
              <a:t>관리자 콘솔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5257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B9C2D6"/>
                </a:solidFill>
                <a:latin typeface="맑은 고딕"/>
                <a:ea typeface="맑은 고딕"/>
              </a:rPr>
              <a:t>vidshare-console.limjinheng0120.workers.dev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