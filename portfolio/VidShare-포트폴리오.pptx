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926080" y="-3291840"/>
            <a:ext cx="8229600" cy="8229600"/>
          </a:xfrm>
          <a:prstGeom prst="ellipse">
            <a:avLst/>
          </a:prstGeom>
          <a:solidFill>
            <a:srgbClr val="7C3AED"/>
            <a:alpha val="2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2194560"/>
            <a:ext cx="6858000" cy="6858000"/>
          </a:xfrm>
          <a:prstGeom prst="ellipse">
            <a:avLst/>
          </a:prstGeom>
          <a:solidFill>
            <a:srgbClr val="3EA6FF"/>
            <a:alpha val="16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68580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lang="ko-KR">
                <a:solidFill>
                  <a:srgbClr val="FFFFFF"/>
                </a:solidFill>
                <a:latin typeface="맑은 고딕"/>
                <a:ea typeface="맑은 고딕"/>
              </a:rPr>
              <a:t>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68580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lang="ko-KR">
                <a:solidFill>
                  <a:srgbClr val="FFFFFF"/>
                </a:solidFill>
                <a:latin typeface="맑은 고딕"/>
                <a:ea typeface="맑은 고딕"/>
              </a:rPr>
              <a:t>VidShare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lang="ko-KR">
                <a:solidFill>
                  <a:srgbClr val="3EA6FF"/>
                </a:solidFill>
                <a:latin typeface="맑은 고딕"/>
                <a:ea typeface="맑은 고딕"/>
              </a:rPr>
              <a:t>풀스택 개인 프로젝트 · 2026.08 – 2026.09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600" b="1" lang="ko-KR">
                <a:solidFill>
                  <a:srgbClr val="FFFFFF"/>
                </a:solidFill>
                <a:latin typeface="맑은 고딕"/>
                <a:ea typeface="맑은 고딕"/>
              </a:rPr>
              <a:t>영상을 올리고, 함께 보고,</a:t>
            </a:r>
          </a:p>
          <a:p>
            <a:pPr algn="l">
              <a:lnSpc>
                <a:spcPct val="112000"/>
              </a:lnSpc>
            </a:pPr>
            <a:r>
              <a:rPr sz="4600" b="1" lang="ko-KR">
                <a:solidFill>
                  <a:srgbClr val="FFFFFF"/>
                </a:solidFill>
                <a:latin typeface="맑은 고딕"/>
                <a:ea typeface="맑은 고딕"/>
              </a:rPr>
              <a:t>운영까지 하는 플랫폼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43400"/>
            <a:ext cx="8778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50" b="0" lang="ko-KR">
                <a:solidFill>
                  <a:srgbClr val="B9C2D6"/>
                </a:solidFill>
                <a:latin typeface="맑은 고딕"/>
                <a:ea typeface="맑은 고딕"/>
              </a:rPr>
              <a:t>숏폼 · 롱폼 · 커뮤니티 · 실시간 메시지 · AI 챗봇을 한 서비스에 담고,</a:t>
            </a:r>
          </a:p>
          <a:p>
            <a:pPr algn="l">
              <a:lnSpc>
                <a:spcPct val="150000"/>
              </a:lnSpc>
            </a:pPr>
            <a:r>
              <a:rPr sz="1550" b="0" lang="ko-KR">
                <a:solidFill>
                  <a:srgbClr val="B9C2D6"/>
                </a:solidFill>
                <a:latin typeface="맑은 고딕"/>
                <a:ea typeface="맑은 고딕"/>
              </a:rPr>
              <a:t>신고 처리와 계정 관리를 위한 관리자 콘솔까지 별도 앱으로 만들었습니다.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623560"/>
            <a:ext cx="1920240" cy="868680"/>
          </a:xfrm>
          <a:prstGeom prst="roundRect">
            <a:avLst>
              <a:gd name="adj" fmla="val 12000"/>
            </a:avLst>
          </a:prstGeom>
          <a:solidFill>
            <a:srgbClr val="151D31"/>
          </a:solidFill>
          <a:ln w="9525">
            <a:solidFill>
              <a:srgbClr val="273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5733288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lang="ko-KR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617220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lang="ko-KR">
                <a:solidFill>
                  <a:srgbClr val="8B96B5"/>
                </a:solidFill>
                <a:latin typeface="맑은 고딕"/>
                <a:ea typeface="맑은 고딕"/>
              </a:rPr>
              <a:t>애플리케이션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5623560"/>
            <a:ext cx="1920240" cy="868680"/>
          </a:xfrm>
          <a:prstGeom prst="roundRect">
            <a:avLst>
              <a:gd name="adj" fmla="val 12000"/>
            </a:avLst>
          </a:prstGeom>
          <a:solidFill>
            <a:srgbClr val="151D31"/>
          </a:solidFill>
          <a:ln w="9525">
            <a:solidFill>
              <a:srgbClr val="273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5733288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lang="ko-KR">
                <a:solidFill>
                  <a:srgbClr val="FFFFFF"/>
                </a:solidFill>
                <a:latin typeface="맑은 고딕"/>
                <a:ea typeface="맑은 고딕"/>
              </a:rPr>
              <a:t>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617220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lang="ko-KR">
                <a:solidFill>
                  <a:srgbClr val="8B96B5"/>
                </a:solidFill>
                <a:latin typeface="맑은 고딕"/>
                <a:ea typeface="맑은 고딕"/>
              </a:rPr>
              <a:t>REST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5623560"/>
            <a:ext cx="1920240" cy="868680"/>
          </a:xfrm>
          <a:prstGeom prst="roundRect">
            <a:avLst>
              <a:gd name="adj" fmla="val 12000"/>
            </a:avLst>
          </a:prstGeom>
          <a:solidFill>
            <a:srgbClr val="151D31"/>
          </a:solidFill>
          <a:ln w="9525">
            <a:solidFill>
              <a:srgbClr val="273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02352" y="5733288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lang="ko-KR">
                <a:solidFill>
                  <a:srgbClr val="FFFFFF"/>
                </a:solidFill>
                <a:latin typeface="맑은 고딕"/>
                <a:ea typeface="맑은 고딕"/>
              </a:rPr>
              <a:t>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617220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lang="ko-KR">
                <a:solidFill>
                  <a:srgbClr val="8B96B5"/>
                </a:solidFill>
                <a:latin typeface="맑은 고딕"/>
                <a:ea typeface="맑은 고딕"/>
              </a:rPr>
              <a:t>DB 테이블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95160" y="5623560"/>
            <a:ext cx="1920240" cy="868680"/>
          </a:xfrm>
          <a:prstGeom prst="roundRect">
            <a:avLst>
              <a:gd name="adj" fmla="val 12000"/>
            </a:avLst>
          </a:prstGeom>
          <a:solidFill>
            <a:srgbClr val="151D31"/>
          </a:solidFill>
          <a:ln w="9525">
            <a:solidFill>
              <a:srgbClr val="273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59752" y="5733288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lang="ko-KR">
                <a:solidFill>
                  <a:srgbClr val="FFFFFF"/>
                </a:solidFill>
                <a:latin typeface="맑은 고딕"/>
                <a:ea typeface="맑은 고딕"/>
              </a:rPr>
              <a:t>177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9752" y="617220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lang="ko-KR">
                <a:solidFill>
                  <a:srgbClr val="8B96B5"/>
                </a:solidFill>
                <a:latin typeface="맑은 고딕"/>
                <a:ea typeface="맑은 고딕"/>
              </a:rPr>
              <a:t>테스트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5623560"/>
            <a:ext cx="1920240" cy="868680"/>
          </a:xfrm>
          <a:prstGeom prst="roundRect">
            <a:avLst>
              <a:gd name="adj" fmla="val 12000"/>
            </a:avLst>
          </a:prstGeom>
          <a:solidFill>
            <a:srgbClr val="151D31"/>
          </a:solidFill>
          <a:ln w="9525">
            <a:solidFill>
              <a:srgbClr val="273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7152" y="5733288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lang="ko-KR">
                <a:solidFill>
                  <a:srgbClr val="FFFFFF"/>
                </a:solidFill>
                <a:latin typeface="맑은 고딕"/>
                <a:ea typeface="맑은 고딕"/>
              </a:rPr>
              <a:t>162+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2" y="617220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lang="ko-KR">
                <a:solidFill>
                  <a:srgbClr val="8B96B5"/>
                </a:solidFill>
                <a:latin typeface="맑은 고딕"/>
                <a:ea typeface="맑은 고딕"/>
              </a:rPr>
              <a:t>커밋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lang="ko-KR">
                <a:solidFill>
                  <a:srgbClr val="8B96B5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lang="ko-KR">
                <a:solidFill>
                  <a:srgbClr val="8B96B5"/>
                </a:solidFill>
                <a:latin typeface="맑은 고딕"/>
                <a:ea typeface="맑은 고딕"/>
              </a:rPr>
              <a:t>VidShare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lang="ko-KR">
                <a:solidFill>
                  <a:srgbClr val="4F46E5"/>
                </a:solidFill>
                <a:latin typeface="맑은 고딕"/>
                <a:ea typeface="맑은 고딕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lang="ko-KR">
                <a:solidFill>
                  <a:srgbClr val="101623"/>
                </a:solidFill>
                <a:latin typeface="맑은 고딕"/>
                <a:ea typeface="맑은 고딕"/>
              </a:rPr>
              <a:t>무엇을 만들었는지 소개합니다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548640"/>
          </a:xfrm>
          <a:prstGeom prst="roundRect">
            <a:avLst>
              <a:gd name="adj" fmla="val 16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lang="ko-KR">
                <a:solidFill>
                  <a:srgbClr val="4F46E5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783080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lang="ko-KR">
                <a:solidFill>
                  <a:srgbClr val="101623"/>
                </a:solidFill>
                <a:latin typeface="맑은 고딕"/>
                <a:ea typeface="맑은 고딕"/>
              </a:rPr>
              <a:t>프로젝트 소개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783080"/>
            <a:ext cx="5852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lang="ko-KR">
                <a:solidFill>
                  <a:srgbClr val="5F6B7F"/>
                </a:solidFill>
                <a:latin typeface="맑은 고딕"/>
                <a:ea typeface="맑은 고딕"/>
              </a:rPr>
              <a:t>무엇이고, 왜 만들었는가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04872"/>
            <a:ext cx="10515600" cy="548640"/>
          </a:xfrm>
          <a:prstGeom prst="roundRect">
            <a:avLst>
              <a:gd name="adj" fmla="val 16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04872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lang="ko-KR">
                <a:solidFill>
                  <a:srgbClr val="4F46E5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404872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lang="ko-KR">
                <a:solidFill>
                  <a:srgbClr val="101623"/>
                </a:solidFill>
                <a:latin typeface="맑은 고딕"/>
                <a:ea typeface="맑은 고딕"/>
              </a:rPr>
              <a:t>핵심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404872"/>
            <a:ext cx="5852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lang="ko-KR">
                <a:solidFill>
                  <a:srgbClr val="5F6B7F"/>
                </a:solidFill>
                <a:latin typeface="맑은 고딕"/>
                <a:ea typeface="맑은 고딕"/>
              </a:rPr>
              <a:t>쇼츠부터 AI 챗봇까지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026664"/>
            <a:ext cx="10515600" cy="548640"/>
          </a:xfrm>
          <a:prstGeom prst="roundRect">
            <a:avLst>
              <a:gd name="adj" fmla="val 16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026664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lang="ko-KR">
                <a:solidFill>
                  <a:srgbClr val="4F46E5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026664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lang="ko-KR">
                <a:solidFill>
                  <a:srgbClr val="101623"/>
                </a:solidFill>
                <a:latin typeface="맑은 고딕"/>
                <a:ea typeface="맑은 고딕"/>
              </a:rPr>
              <a:t>사용자 화면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026664"/>
            <a:ext cx="5852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lang="ko-KR">
                <a:solidFill>
                  <a:srgbClr val="5F6B7F"/>
                </a:solidFill>
                <a:latin typeface="맑은 고딕"/>
                <a:ea typeface="맑은 고딕"/>
              </a:rPr>
              <a:t>실제 서비스 화면 둘러보기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648456"/>
            <a:ext cx="10515600" cy="548640"/>
          </a:xfrm>
          <a:prstGeom prst="roundRect">
            <a:avLst>
              <a:gd name="adj" fmla="val 16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648456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lang="ko-KR">
                <a:solidFill>
                  <a:srgbClr val="4F46E5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648456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lang="ko-KR">
                <a:solidFill>
                  <a:srgbClr val="101623"/>
                </a:solidFill>
                <a:latin typeface="맑은 고딕"/>
                <a:ea typeface="맑은 고딕"/>
              </a:rPr>
              <a:t>AI 챗봇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648456"/>
            <a:ext cx="5852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lang="ko-KR">
                <a:solidFill>
                  <a:srgbClr val="5F6B7F"/>
                </a:solidFill>
                <a:latin typeface="맑은 고딕"/>
                <a:ea typeface="맑은 고딕"/>
              </a:rPr>
              <a:t>3가지 모델, 대화 저장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270248"/>
            <a:ext cx="10515600" cy="548640"/>
          </a:xfrm>
          <a:prstGeom prst="roundRect">
            <a:avLst>
              <a:gd name="adj" fmla="val 16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270248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lang="ko-KR">
                <a:solidFill>
                  <a:srgbClr val="4F46E5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4270248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lang="ko-KR">
                <a:solidFill>
                  <a:srgbClr val="101623"/>
                </a:solidFill>
                <a:latin typeface="맑은 고딕"/>
                <a:ea typeface="맑은 고딕"/>
              </a:rPr>
              <a:t>관리자 콘솔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270248"/>
            <a:ext cx="5852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lang="ko-KR">
                <a:solidFill>
                  <a:srgbClr val="5F6B7F"/>
                </a:solidFill>
                <a:latin typeface="맑은 고딕"/>
                <a:ea typeface="맑은 고딕"/>
              </a:rPr>
              <a:t>신고·유저·콘텐츠 운영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892040"/>
            <a:ext cx="10515600" cy="548640"/>
          </a:xfrm>
          <a:prstGeom prst="roundRect">
            <a:avLst>
              <a:gd name="adj" fmla="val 16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892040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lang="ko-KR">
                <a:solidFill>
                  <a:srgbClr val="4F46E5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4892040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lang="ko-KR">
                <a:solidFill>
                  <a:srgbClr val="101623"/>
                </a:solidFill>
                <a:latin typeface="맑은 고딕"/>
                <a:ea typeface="맑은 고딕"/>
              </a:rPr>
              <a:t>기술 스택 &amp; 규모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4892040"/>
            <a:ext cx="5852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lang="ko-KR">
                <a:solidFill>
                  <a:srgbClr val="5F6B7F"/>
                </a:solidFill>
                <a:latin typeface="맑은 고딕"/>
                <a:ea typeface="맑은 고딕"/>
              </a:rPr>
              <a:t>무엇으로, 얼마나 만들었나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5513832"/>
            <a:ext cx="10515600" cy="548640"/>
          </a:xfrm>
          <a:prstGeom prst="roundRect">
            <a:avLst>
              <a:gd name="adj" fmla="val 16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513832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lang="ko-KR">
                <a:solidFill>
                  <a:srgbClr val="4F46E5"/>
                </a:solidFill>
                <a:latin typeface="맑은 고딕"/>
                <a:ea typeface="맑은 고딕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5513832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lang="ko-KR">
                <a:solidFill>
                  <a:srgbClr val="101623"/>
                </a:solidFill>
                <a:latin typeface="맑은 고딕"/>
                <a:ea typeface="맑은 고딕"/>
              </a:rPr>
              <a:t>회고 &amp; 다음 계획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5513832"/>
            <a:ext cx="5852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lang="ko-KR">
                <a:solidFill>
                  <a:srgbClr val="5F6B7F"/>
                </a:solidFill>
                <a:latin typeface="맑은 고딕"/>
                <a:ea typeface="맑은 고딕"/>
              </a:rPr>
              <a:t>잘한 점과 앞으로의 방향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lang="ko-KR">
                <a:solidFill>
                  <a:srgbClr val="5F6B7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lang="ko-KR">
                <a:solidFill>
                  <a:srgbClr val="5F6B7F"/>
                </a:solidFill>
                <a:latin typeface="맑은 고딕"/>
                <a:ea typeface="맑은 고딕"/>
              </a:rPr>
              <a:t>VidShare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926080" y="-3291840"/>
            <a:ext cx="8229600" cy="8229600"/>
          </a:xfrm>
          <a:prstGeom prst="ellipse">
            <a:avLst/>
          </a:prstGeom>
          <a:solidFill>
            <a:srgbClr val="7C3AED"/>
            <a:alpha val="2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2194560"/>
            <a:ext cx="6858000" cy="6858000"/>
          </a:xfrm>
          <a:prstGeom prst="ellipse">
            <a:avLst/>
          </a:prstGeom>
          <a:solidFill>
            <a:srgbClr val="3EA6FF"/>
            <a:alpha val="16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lang="ko-KR">
                <a:solidFill>
                  <a:srgbClr val="3EA6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lang="ko-KR">
                <a:solidFill>
                  <a:srgbClr val="B9C2D6"/>
                </a:solidFill>
                <a:latin typeface="맑은 고딕"/>
                <a:ea typeface="맑은 고딕"/>
              </a:rPr>
              <a:t>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5156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lang="ko-KR">
                <a:solidFill>
                  <a:srgbClr val="FFFFFF"/>
                </a:solidFill>
                <a:latin typeface="맑은 고딕"/>
                <a:ea typeface="맑은 고딕"/>
              </a:rPr>
              <a:t>운영까지 넣으니</a:t>
            </a:r>
          </a:p>
          <a:p>
            <a:pPr algn="l">
              <a:lnSpc>
                <a:spcPct val="115000"/>
              </a:lnSpc>
            </a:pPr>
            <a:r>
              <a:rPr sz="4000" b="1" lang="ko-KR">
                <a:solidFill>
                  <a:srgbClr val="FFFFFF"/>
                </a:solidFill>
                <a:latin typeface="맑은 고딕"/>
                <a:ea typeface="맑은 고딕"/>
              </a:rPr>
              <a:t>설계할 것이 달라졌다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lang="ko-KR">
                <a:solidFill>
                  <a:srgbClr val="8B96B5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lang="ko-KR">
                <a:solidFill>
                  <a:srgbClr val="8B96B5"/>
                </a:solidFill>
                <a:latin typeface="맑은 고딕"/>
                <a:ea typeface="맑은 고딕"/>
              </a:rPr>
              <a:t>VidShare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lang="ko-KR">
                <a:solidFill>
                  <a:srgbClr val="4F46E5"/>
                </a:solidFill>
                <a:latin typeface="맑은 고딕"/>
                <a:ea typeface="맑은 고딕"/>
              </a:rPr>
              <a:t>01 · 프로젝트 소개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lang="ko-KR">
                <a:solidFill>
                  <a:srgbClr val="101623"/>
                </a:solidFill>
                <a:latin typeface="맑은 고딕"/>
                <a:ea typeface="맑은 고딕"/>
              </a:rPr>
              <a:t>왜 이 서비스를 만들었나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9875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550" b="0" lang="ko-KR">
                <a:solidFill>
                  <a:srgbClr val="2C3646"/>
                </a:solidFill>
                <a:latin typeface="맑은 고딕"/>
                <a:ea typeface="맑은 고딕"/>
              </a:rPr>
              <a:t>영상 플레이어 하나를 만드는 과제로는 배울 것이 금방 끝납니다. 그래서 콘텐츠 소비 → 창작 → 소통 → 운영까지, 서비스가 실제로 도는 한 사이클을 전부 통과해 보기로 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8892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F0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999232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1" lang="ko-KR">
                <a:solidFill>
                  <a:srgbClr val="2C3646"/>
                </a:solidFill>
                <a:latin typeface="맑은 고딕"/>
                <a:ea typeface="맑은 고딕"/>
              </a:rPr>
              <a:t>운영을 범위에 넣은 것이 이 프로젝트의 성격을 결정했습니다.  </a:t>
            </a:r>
            <a:r>
              <a:rPr sz="1450" b="0" lang="ko-KR">
                <a:solidFill>
                  <a:srgbClr val="2C3646"/>
                </a:solidFill>
                <a:latin typeface="맑은 고딕"/>
                <a:ea typeface="맑은 고딕"/>
              </a:rPr>
              <a:t>신고가 들어오면 누가 보고 무엇을 근거로 지우는지, 정지된 계정은 어떻게 되는지 — 이런 질문은 사용자 화면만 만들어서는 마주칠 일이 없습니다.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343400"/>
            <a:ext cx="2468880" cy="169164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4128" y="45445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300" b="1" lang="ko-KR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502920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lang="ko-KR">
                <a:solidFill>
                  <a:srgbClr val="101623"/>
                </a:solidFill>
                <a:latin typeface="맑은 고딕"/>
                <a:ea typeface="맑은 고딕"/>
              </a:rPr>
              <a:t>소비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5413248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lang="ko-KR">
                <a:solidFill>
                  <a:srgbClr val="5F6B7F"/>
                </a:solidFill>
                <a:latin typeface="맑은 고딕"/>
                <a:ea typeface="맑은 고딕"/>
              </a:rPr>
              <a:t>쇼츠·롱폼 피드로</a:t>
            </a:r>
          </a:p>
          <a:p>
            <a:pPr algn="l">
              <a:lnSpc>
                <a:spcPct val="135000"/>
              </a:lnSpc>
            </a:pPr>
            <a:r>
              <a:rPr sz="1150" b="0" lang="ko-KR">
                <a:solidFill>
                  <a:srgbClr val="5F6B7F"/>
                </a:solidFill>
                <a:latin typeface="맑은 고딕"/>
                <a:ea typeface="맑은 고딕"/>
              </a:rPr>
              <a:t>영상을 본다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4343400"/>
            <a:ext cx="2468880" cy="169164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30168" y="45445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300" b="1" lang="ko-KR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502920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lang="ko-KR">
                <a:solidFill>
                  <a:srgbClr val="101623"/>
                </a:solidFill>
                <a:latin typeface="맑은 고딕"/>
                <a:ea typeface="맑은 고딕"/>
              </a:rPr>
              <a:t>창작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5413248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lang="ko-KR">
                <a:solidFill>
                  <a:srgbClr val="5F6B7F"/>
                </a:solidFill>
                <a:latin typeface="맑은 고딕"/>
                <a:ea typeface="맑은 고딕"/>
              </a:rPr>
              <a:t>직접 올리고</a:t>
            </a:r>
          </a:p>
          <a:p>
            <a:pPr algn="l">
              <a:lnSpc>
                <a:spcPct val="135000"/>
              </a:lnSpc>
            </a:pPr>
            <a:r>
              <a:rPr sz="1150" b="0" lang="ko-KR">
                <a:solidFill>
                  <a:srgbClr val="5F6B7F"/>
                </a:solidFill>
                <a:latin typeface="맑은 고딕"/>
                <a:ea typeface="맑은 고딕"/>
              </a:rPr>
              <a:t>커뮤니티에 공유한다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4343400"/>
            <a:ext cx="2468880" cy="169164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36208" y="45445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300" b="1" lang="ko-KR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502920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lang="ko-KR">
                <a:solidFill>
                  <a:srgbClr val="101623"/>
                </a:solidFill>
                <a:latin typeface="맑은 고딕"/>
                <a:ea typeface="맑은 고딕"/>
              </a:rPr>
              <a:t>소통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5413248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lang="ko-KR">
                <a:solidFill>
                  <a:srgbClr val="5F6B7F"/>
                </a:solidFill>
                <a:latin typeface="맑은 고딕"/>
                <a:ea typeface="맑은 고딕"/>
              </a:rPr>
              <a:t>댓글·메시지·알림으로</a:t>
            </a:r>
          </a:p>
          <a:p>
            <a:pPr algn="l">
              <a:lnSpc>
                <a:spcPct val="135000"/>
              </a:lnSpc>
            </a:pPr>
            <a:r>
              <a:rPr sz="1150" b="0" lang="ko-KR">
                <a:solidFill>
                  <a:srgbClr val="5F6B7F"/>
                </a:solidFill>
                <a:latin typeface="맑은 고딕"/>
                <a:ea typeface="맑은 고딕"/>
              </a:rPr>
              <a:t>서로 이어진다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4343400"/>
            <a:ext cx="2468880" cy="169164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42248" y="45445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300" b="1" lang="ko-KR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42248" y="502920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lang="ko-KR">
                <a:solidFill>
                  <a:srgbClr val="101623"/>
                </a:solidFill>
                <a:latin typeface="맑은 고딕"/>
                <a:ea typeface="맑은 고딕"/>
              </a:rPr>
              <a:t>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2248" y="5413248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lang="ko-KR">
                <a:solidFill>
                  <a:srgbClr val="5F6B7F"/>
                </a:solidFill>
                <a:latin typeface="맑은 고딕"/>
                <a:ea typeface="맑은 고딕"/>
              </a:rPr>
              <a:t>신고·정지·삭제로</a:t>
            </a:r>
          </a:p>
          <a:p>
            <a:pPr algn="l">
              <a:lnSpc>
                <a:spcPct val="135000"/>
              </a:lnSpc>
            </a:pPr>
            <a:r>
              <a:rPr sz="1150" b="0" lang="ko-KR">
                <a:solidFill>
                  <a:srgbClr val="5F6B7F"/>
                </a:solidFill>
                <a:latin typeface="맑은 고딕"/>
                <a:ea typeface="맑은 고딕"/>
              </a:rPr>
              <a:t>서비스를 관리한다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lang="ko-KR">
                <a:solidFill>
                  <a:srgbClr val="5F6B7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lang="ko-KR">
                <a:solidFill>
                  <a:srgbClr val="5F6B7F"/>
                </a:solidFill>
                <a:latin typeface="맑은 고딕"/>
                <a:ea typeface="맑은 고딕"/>
              </a:rPr>
              <a:t>VidShare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lang="ko-KR">
                <a:solidFill>
                  <a:srgbClr val="4F46E5"/>
                </a:solidFill>
                <a:latin typeface="맑은 고딕"/>
                <a:ea typeface="맑은 고딕"/>
              </a:rPr>
              <a:t>01 · 프로젝트 소개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lang="ko-KR">
                <a:solidFill>
                  <a:srgbClr val="101623"/>
                </a:solidFill>
                <a:latin typeface="맑은 고딕"/>
                <a:ea typeface="맑은 고딕"/>
              </a:rPr>
              <a:t>세 개의 애플리케이션으로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lang="ko-KR">
                <a:solidFill>
                  <a:srgbClr val="5F6B7F"/>
                </a:solidFill>
                <a:latin typeface="맑은 고딕"/>
                <a:ea typeface="맑은 고딕"/>
              </a:rPr>
              <a:t>사용자 웹앱과 관리자 콘솔을 별도 앱으로 분리하고, 하나의 API 서버가 둘을 함께 지원합니다.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2926080" cy="228600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2926080" cy="109728"/>
          </a:xfrm>
          <a:prstGeom prst="roundRect">
            <a:avLst>
              <a:gd name="adj" fmla="val 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624328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lang="ko-KR">
                <a:solidFill>
                  <a:srgbClr val="101623"/>
                </a:solidFill>
                <a:latin typeface="맑은 고딕"/>
                <a:ea typeface="맑은 고딕"/>
              </a:rPr>
              <a:t>사용자 웹앱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044952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lang="ko-KR">
                <a:solidFill>
                  <a:srgbClr val="5F6B7F"/>
                </a:solidFill>
                <a:latin typeface="맑은 고딕"/>
                <a:ea typeface="맑은 고딕"/>
              </a:rPr>
              <a:t>FrontServer · :3000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502152"/>
            <a:ext cx="2468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lang="ko-KR">
                <a:solidFill>
                  <a:srgbClr val="2C3646"/>
                </a:solidFill>
                <a:latin typeface="맑은 고딕"/>
                <a:ea typeface="맑은 고딕"/>
              </a:rPr>
              <a:t>숏폼·롱폼·커뮤니티</a:t>
            </a:r>
          </a:p>
          <a:p>
            <a:pPr algn="l">
              <a:lnSpc>
                <a:spcPct val="150000"/>
              </a:lnSpc>
            </a:pPr>
            <a:r>
              <a:rPr sz="1250" b="0" lang="ko-KR">
                <a:solidFill>
                  <a:srgbClr val="2C3646"/>
                </a:solidFill>
                <a:latin typeface="맑은 고딕"/>
                <a:ea typeface="맑은 고딕"/>
              </a:rPr>
              <a:t>메시지·알림·챗봇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331720"/>
            <a:ext cx="2926080" cy="228600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17720" y="2331720"/>
            <a:ext cx="2926080" cy="109728"/>
          </a:xfrm>
          <a:prstGeom prst="roundRect">
            <a:avLst>
              <a:gd name="adj" fmla="val 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3752" y="2624328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lang="ko-KR">
                <a:solidFill>
                  <a:srgbClr val="101623"/>
                </a:solidFill>
                <a:latin typeface="맑은 고딕"/>
                <a:ea typeface="맑은 고딕"/>
              </a:rPr>
              <a:t>관리자 콘솔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3044952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lang="ko-KR">
                <a:solidFill>
                  <a:srgbClr val="5F6B7F"/>
                </a:solidFill>
                <a:latin typeface="맑은 고딕"/>
                <a:ea typeface="맑은 고딕"/>
              </a:rPr>
              <a:t>Console · :3200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3502152"/>
            <a:ext cx="2468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lang="ko-KR">
                <a:solidFill>
                  <a:srgbClr val="2C3646"/>
                </a:solidFill>
                <a:latin typeface="맑은 고딕"/>
                <a:ea typeface="맑은 고딕"/>
              </a:rPr>
              <a:t>신고·유저·콘텐츠</a:t>
            </a:r>
          </a:p>
          <a:p>
            <a:pPr algn="l">
              <a:lnSpc>
                <a:spcPct val="150000"/>
              </a:lnSpc>
            </a:pPr>
            <a:r>
              <a:rPr sz="1250" b="0" lang="ko-KR">
                <a:solidFill>
                  <a:srgbClr val="2C3646"/>
                </a:solidFill>
                <a:latin typeface="맑은 고딕"/>
                <a:ea typeface="맑은 고딕"/>
              </a:rPr>
              <a:t>고객센터·대시보드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2331720"/>
            <a:ext cx="2926080" cy="228600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0" y="2331720"/>
            <a:ext cx="2926080" cy="109728"/>
          </a:xfrm>
          <a:prstGeom prst="roundRect">
            <a:avLst>
              <a:gd name="adj" fmla="val 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68512" y="2624328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lang="ko-KR">
                <a:solidFill>
                  <a:srgbClr val="101623"/>
                </a:solidFill>
                <a:latin typeface="맑은 고딕"/>
                <a:ea typeface="맑은 고딕"/>
              </a:rPr>
              <a:t>API 서버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8512" y="3044952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lang="ko-KR">
                <a:solidFill>
                  <a:srgbClr val="5F6B7F"/>
                </a:solidFill>
                <a:latin typeface="맑은 고딕"/>
                <a:ea typeface="맑은 고딕"/>
              </a:rPr>
              <a:t>BackendServer · :4000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3502152"/>
            <a:ext cx="2468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lang="ko-KR">
                <a:solidFill>
                  <a:srgbClr val="2C3646"/>
                </a:solidFill>
                <a:latin typeface="맑은 고딕"/>
                <a:ea typeface="맑은 고딕"/>
              </a:rPr>
              <a:t>REST API·SQLite</a:t>
            </a:r>
          </a:p>
          <a:p>
            <a:pPr algn="l">
              <a:lnSpc>
                <a:spcPct val="150000"/>
              </a:lnSpc>
            </a:pPr>
            <a:r>
              <a:rPr sz="1250" b="0" lang="ko-KR">
                <a:solidFill>
                  <a:srgbClr val="2C3646"/>
                </a:solidFill>
                <a:latin typeface="맑은 고딕"/>
                <a:ea typeface="맑은 고딕"/>
              </a:rPr>
              <a:t>실시간(SSE·WS)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86000" y="4617720"/>
            <a:ext cx="7589520" cy="502920"/>
          </a:xfrm>
          <a:prstGeom prst="line">
            <a:avLst/>
          </a:prstGeom>
          <a:ln w="15875">
            <a:solidFill>
              <a:srgbClr val="5F6B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80760" y="4617720"/>
            <a:ext cx="3794760" cy="502920"/>
          </a:xfrm>
          <a:prstGeom prst="line">
            <a:avLst/>
          </a:prstGeom>
          <a:ln w="15875">
            <a:solidFill>
              <a:srgbClr val="5F6B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51663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lang="ko-KR">
                <a:solidFill>
                  <a:srgbClr val="4F46E5"/>
                </a:solidFill>
                <a:latin typeface="맑은 고딕"/>
                <a:ea typeface="맑은 고딕"/>
              </a:rPr>
              <a:t>포인트  </a:t>
            </a:r>
            <a:r>
              <a:rPr sz="1350" b="0" lang="ko-KR">
                <a:solidFill>
                  <a:srgbClr val="2C3646"/>
                </a:solidFill>
                <a:latin typeface="맑은 고딕"/>
                <a:ea typeface="맑은 고딕"/>
              </a:rPr>
              <a:t>두 프론트가 같은 백엔드를 보지만, 세션 쿠키 이름을 달리해 동시에 로그인해도 서로 영향이 없습니다.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lang="ko-KR">
                <a:solidFill>
                  <a:srgbClr val="5F6B7F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lang="ko-KR">
                <a:solidFill>
                  <a:srgbClr val="5F6B7F"/>
                </a:solidFill>
                <a:latin typeface="맑은 고딕"/>
                <a:ea typeface="맑은 고딕"/>
              </a:rPr>
              <a:t>VidShare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926080" y="-3291840"/>
            <a:ext cx="8229600" cy="8229600"/>
          </a:xfrm>
          <a:prstGeom prst="ellipse">
            <a:avLst/>
          </a:prstGeom>
          <a:solidFill>
            <a:srgbClr val="7C3AED"/>
            <a:alpha val="2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2194560"/>
            <a:ext cx="6858000" cy="6858000"/>
          </a:xfrm>
          <a:prstGeom prst="ellipse">
            <a:avLst/>
          </a:prstGeom>
          <a:solidFill>
            <a:srgbClr val="3EA6FF"/>
            <a:alpha val="16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lang="ko-KR">
                <a:solidFill>
                  <a:srgbClr val="3EA6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lang="ko-KR">
                <a:solidFill>
                  <a:srgbClr val="B9C2D6"/>
                </a:solidFill>
                <a:latin typeface="맑은 고딕"/>
                <a:ea typeface="맑은 고딕"/>
              </a:rPr>
              <a:t>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5156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lang="ko-KR">
                <a:solidFill>
                  <a:srgbClr val="FFFFFF"/>
                </a:solidFill>
                <a:latin typeface="맑은 고딕"/>
                <a:ea typeface="맑은 고딕"/>
              </a:rPr>
              <a:t>쇼츠부터</a:t>
            </a:r>
          </a:p>
          <a:p>
            <a:pPr algn="l">
              <a:lnSpc>
                <a:spcPct val="115000"/>
              </a:lnSpc>
            </a:pPr>
            <a:r>
              <a:rPr sz="4000" b="1" lang="ko-KR">
                <a:solidFill>
                  <a:srgbClr val="FFFFFF"/>
                </a:solidFill>
                <a:latin typeface="맑은 고딕"/>
                <a:ea typeface="맑은 고딕"/>
              </a:rPr>
              <a:t>AI 챗봇까지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lang="ko-KR">
                <a:solidFill>
                  <a:srgbClr val="B9C2D6"/>
                </a:solidFill>
                <a:latin typeface="맑은 고딕"/>
                <a:ea typeface="맑은 고딕"/>
              </a:rPr>
              <a:t>여덟 가지 영역을 한 서비스 안에 담았습니다.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lang="ko-KR">
                <a:solidFill>
                  <a:srgbClr val="8B96B5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lang="ko-KR">
                <a:solidFill>
                  <a:srgbClr val="8B96B5"/>
                </a:solidFill>
                <a:latin typeface="맑은 고딕"/>
                <a:ea typeface="맑은 고딕"/>
              </a:rPr>
              <a:t>VidShare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lang="ko-KR">
                <a:solidFill>
                  <a:srgbClr val="4F46E5"/>
                </a:solidFill>
                <a:latin typeface="맑은 고딕"/>
                <a:ea typeface="맑은 고딕"/>
              </a:rPr>
              <a:t>02 · 핵심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lang="ko-KR">
                <a:solidFill>
                  <a:srgbClr val="101623"/>
                </a:solidFill>
                <a:latin typeface="맑은 고딕"/>
                <a:ea typeface="맑은 고딕"/>
              </a:rPr>
              <a:t>기능 한눈에 보기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2514600" cy="182880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" y="1801368"/>
            <a:ext cx="457200" cy="457200"/>
          </a:xfrm>
          <a:prstGeom prst="ellipse">
            <a:avLst/>
          </a:prstGeom>
          <a:solidFill>
            <a:srgbClr val="4F46E5"/>
            <a:alpha val="14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8013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lang="ko-KR">
                <a:solidFill>
                  <a:srgbClr val="101623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04872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lang="ko-KR">
                <a:solidFill>
                  <a:srgbClr val="101623"/>
                </a:solidFill>
                <a:latin typeface="맑은 고딕"/>
                <a:ea typeface="맑은 고딕"/>
              </a:rPr>
              <a:t>쇼츠 · 롱폼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770632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ko-KR">
                <a:solidFill>
                  <a:srgbClr val="5F6B7F"/>
                </a:solidFill>
                <a:latin typeface="맑은 고딕"/>
                <a:ea typeface="맑은 고딕"/>
              </a:rPr>
              <a:t>세로 스냅 피드, 좋아요·댓글, 실파일 업로드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600200"/>
            <a:ext cx="2514600" cy="182880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721608" y="1801368"/>
            <a:ext cx="457200" cy="457200"/>
          </a:xfrm>
          <a:prstGeom prst="ellipse">
            <a:avLst/>
          </a:prstGeom>
          <a:solidFill>
            <a:srgbClr val="4F46E5"/>
            <a:alpha val="14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8" y="18013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lang="ko-KR">
                <a:solidFill>
                  <a:srgbClr val="101623"/>
                </a:solidFill>
                <a:latin typeface="맑은 고딕"/>
                <a:ea typeface="맑은 고딕"/>
              </a:rPr>
              <a:t>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2404872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lang="ko-KR">
                <a:solidFill>
                  <a:srgbClr val="101623"/>
                </a:solidFill>
                <a:latin typeface="맑은 고딕"/>
                <a:ea typeface="맑은 고딕"/>
              </a:rPr>
              <a:t>커뮤니티 · 소셜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2770632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ko-KR">
                <a:solidFill>
                  <a:srgbClr val="5F6B7F"/>
                </a:solidFill>
                <a:latin typeface="맑은 고딕"/>
                <a:ea typeface="맑은 고딕"/>
              </a:rPr>
              <a:t>게시글 공유, 팔로우, 팔로잉 피드, 통합 검색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00200"/>
            <a:ext cx="2514600" cy="182880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19088" y="1801368"/>
            <a:ext cx="457200" cy="457200"/>
          </a:xfrm>
          <a:prstGeom prst="ellipse">
            <a:avLst/>
          </a:prstGeom>
          <a:solidFill>
            <a:srgbClr val="4F46E5"/>
            <a:alpha val="14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013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lang="ko-KR">
                <a:solidFill>
                  <a:srgbClr val="101623"/>
                </a:solidFill>
                <a:latin typeface="맑은 고딕"/>
                <a:ea typeface="맑은 고딕"/>
              </a:rP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404872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lang="ko-KR">
                <a:solidFill>
                  <a:srgbClr val="101623"/>
                </a:solidFill>
                <a:latin typeface="맑은 고딕"/>
                <a:ea typeface="맑은 고딕"/>
              </a:rPr>
              <a:t>실시간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770632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ko-KR">
                <a:solidFill>
                  <a:srgbClr val="5F6B7F"/>
                </a:solidFill>
                <a:latin typeface="맑은 고딕"/>
                <a:ea typeface="맑은 고딕"/>
              </a:rPr>
              <a:t>SSE 알림, WebSocket 메시지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1600200"/>
            <a:ext cx="2514600" cy="182880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16568" y="1801368"/>
            <a:ext cx="457200" cy="457200"/>
          </a:xfrm>
          <a:prstGeom prst="ellipse">
            <a:avLst/>
          </a:prstGeom>
          <a:solidFill>
            <a:srgbClr val="7C3AED"/>
            <a:alpha val="14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6568" y="18013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lang="ko-KR">
                <a:solidFill>
                  <a:srgbClr val="101623"/>
                </a:solidFill>
                <a:latin typeface="맑은 고딕"/>
                <a:ea typeface="맑은 고딕"/>
              </a:rP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8" y="2404872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lang="ko-KR">
                <a:solidFill>
                  <a:srgbClr val="101623"/>
                </a:solidFill>
                <a:latin typeface="맑은 고딕"/>
                <a:ea typeface="맑은 고딕"/>
              </a:rPr>
              <a:t>AI 챗봇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8" y="2770632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ko-KR">
                <a:solidFill>
                  <a:srgbClr val="5F6B7F"/>
                </a:solidFill>
                <a:latin typeface="맑은 고딕"/>
                <a:ea typeface="맑은 고딕"/>
              </a:rPr>
              <a:t>3가지 모델 티어, 대화 저장, 파일 첨부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703320"/>
            <a:ext cx="2514600" cy="182880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4128" y="3904488"/>
            <a:ext cx="457200" cy="457200"/>
          </a:xfrm>
          <a:prstGeom prst="ellipse">
            <a:avLst/>
          </a:prstGeom>
          <a:solidFill>
            <a:srgbClr val="B45309"/>
            <a:alpha val="14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39044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lang="ko-KR">
                <a:solidFill>
                  <a:srgbClr val="101623"/>
                </a:solidFill>
                <a:latin typeface="맑은 고딕"/>
                <a:ea typeface="맑은 고딕"/>
              </a:rPr>
              <a:t>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4507992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lang="ko-KR">
                <a:solidFill>
                  <a:srgbClr val="101623"/>
                </a:solidFill>
                <a:latin typeface="맑은 고딕"/>
                <a:ea typeface="맑은 고딕"/>
              </a:rPr>
              <a:t>모더레이션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4873752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ko-KR">
                <a:solidFill>
                  <a:srgbClr val="5F6B7F"/>
                </a:solidFill>
                <a:latin typeface="맑은 고딕"/>
                <a:ea typeface="맑은 고딕"/>
              </a:rPr>
              <a:t>신고·차단, 피드 자동 필터링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0440" y="3703320"/>
            <a:ext cx="2514600" cy="182880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721608" y="3904488"/>
            <a:ext cx="457200" cy="457200"/>
          </a:xfrm>
          <a:prstGeom prst="ellipse">
            <a:avLst/>
          </a:prstGeom>
          <a:solidFill>
            <a:srgbClr val="B45309"/>
            <a:alpha val="14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21608" y="39044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lang="ko-KR">
                <a:solidFill>
                  <a:srgbClr val="101623"/>
                </a:solidFill>
                <a:latin typeface="맑은 고딕"/>
                <a:ea typeface="맑은 고딕"/>
              </a:rPr>
              <a:t>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21608" y="4507992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lang="ko-KR">
                <a:solidFill>
                  <a:srgbClr val="101623"/>
                </a:solidFill>
                <a:latin typeface="맑은 고딕"/>
                <a:ea typeface="맑은 고딕"/>
              </a:rPr>
              <a:t>운영 콘솔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21608" y="4873752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ko-KR">
                <a:solidFill>
                  <a:srgbClr val="5F6B7F"/>
                </a:solidFill>
                <a:latin typeface="맑은 고딕"/>
                <a:ea typeface="맑은 고딕"/>
              </a:rPr>
              <a:t>신고 처리·계정 정지·문의 답변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3703320"/>
            <a:ext cx="2514600" cy="182880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19088" y="3904488"/>
            <a:ext cx="457200" cy="457200"/>
          </a:xfrm>
          <a:prstGeom prst="ellipse">
            <a:avLst/>
          </a:prstGeom>
          <a:solidFill>
            <a:srgbClr val="14B8A6"/>
            <a:alpha val="14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39044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lang="ko-KR">
                <a:solidFill>
                  <a:srgbClr val="101623"/>
                </a:solidFill>
                <a:latin typeface="맑은 고딕"/>
                <a:ea typeface="맑은 고딕"/>
              </a:rPr>
              <a:t>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4507992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lang="ko-KR">
                <a:solidFill>
                  <a:srgbClr val="101623"/>
                </a:solidFill>
                <a:latin typeface="맑은 고딕"/>
                <a:ea typeface="맑은 고딕"/>
              </a:rPr>
              <a:t>인증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4873752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ko-KR">
                <a:solidFill>
                  <a:srgbClr val="5F6B7F"/>
                </a:solidFill>
                <a:latin typeface="맑은 고딕"/>
                <a:ea typeface="맑은 고딕"/>
              </a:rPr>
              <a:t>이메일 없이 가입, 세션 기반 로그인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15400" y="3703320"/>
            <a:ext cx="2514600" cy="182880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116568" y="3904488"/>
            <a:ext cx="457200" cy="457200"/>
          </a:xfrm>
          <a:prstGeom prst="ellipse">
            <a:avLst/>
          </a:prstGeom>
          <a:solidFill>
            <a:srgbClr val="14B8A6"/>
            <a:alpha val="14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16568" y="39044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lang="ko-KR">
                <a:solidFill>
                  <a:srgbClr val="101623"/>
                </a:solidFill>
                <a:latin typeface="맑은 고딕"/>
                <a:ea typeface="맑은 고딕"/>
              </a:rPr>
              <a:t>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16568" y="4507992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lang="ko-KR">
                <a:solidFill>
                  <a:srgbClr val="101623"/>
                </a:solidFill>
                <a:latin typeface="맑은 고딕"/>
                <a:ea typeface="맑은 고딕"/>
              </a:rPr>
              <a:t>법적 페이지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16568" y="4873752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ko-KR">
                <a:solidFill>
                  <a:srgbClr val="5F6B7F"/>
                </a:solidFill>
                <a:latin typeface="맑은 고딕"/>
                <a:ea typeface="맑은 고딕"/>
              </a:rPr>
              <a:t>이용약관·개인정보처리방침·사업자 정보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lang="ko-KR">
                <a:solidFill>
                  <a:srgbClr val="5F6B7F"/>
                </a:solidFill>
                <a:latin typeface="맑은 고딕"/>
                <a:ea typeface="맑은 고딕"/>
              </a:rP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lang="ko-KR">
                <a:solidFill>
                  <a:srgbClr val="5F6B7F"/>
                </a:solidFill>
                <a:latin typeface="맑은 고딕"/>
                <a:ea typeface="맑은 고딕"/>
              </a:rPr>
              <a:t>VidShare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926080" y="-3291840"/>
            <a:ext cx="8229600" cy="8229600"/>
          </a:xfrm>
          <a:prstGeom prst="ellipse">
            <a:avLst/>
          </a:prstGeom>
          <a:solidFill>
            <a:srgbClr val="7C3AED"/>
            <a:alpha val="2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2194560"/>
            <a:ext cx="6858000" cy="6858000"/>
          </a:xfrm>
          <a:prstGeom prst="ellipse">
            <a:avLst/>
          </a:prstGeom>
          <a:solidFill>
            <a:srgbClr val="3EA6FF"/>
            <a:alpha val="16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lang="ko-KR">
                <a:solidFill>
                  <a:srgbClr val="3EA6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lang="ko-KR">
                <a:solidFill>
                  <a:srgbClr val="B9C2D6"/>
                </a:solidFill>
                <a:latin typeface="맑은 고딕"/>
                <a:ea typeface="맑은 고딕"/>
              </a:rPr>
              <a:t>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5156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lang="ko-KR">
                <a:solidFill>
                  <a:srgbClr val="FFFFFF"/>
                </a:solidFill>
                <a:latin typeface="맑은 고딕"/>
                <a:ea typeface="맑은 고딕"/>
              </a:rPr>
              <a:t>실제 서비스</a:t>
            </a:r>
          </a:p>
          <a:p>
            <a:pPr algn="l">
              <a:lnSpc>
                <a:spcPct val="115000"/>
              </a:lnSpc>
            </a:pPr>
            <a:r>
              <a:rPr sz="4000" b="1" lang="ko-KR">
                <a:solidFill>
                  <a:srgbClr val="FFFFFF"/>
                </a:solidFill>
                <a:latin typeface="맑은 고딕"/>
                <a:ea typeface="맑은 고딕"/>
              </a:rPr>
              <a:t>화면입니다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lang="ko-KR">
                <a:solidFill>
                  <a:srgbClr val="B9C2D6"/>
                </a:solidFill>
                <a:latin typeface="맑은 고딕"/>
                <a:ea typeface="맑은 고딕"/>
              </a:rPr>
              <a:t>목업이 아니라 실행 중인 앱을 그대로 캡처했습니다.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lang="ko-KR">
                <a:solidFill>
                  <a:srgbClr val="8B96B5"/>
                </a:solidFill>
                <a:latin typeface="맑은 고딕"/>
                <a:ea typeface="맑은 고딕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lang="ko-KR">
                <a:solidFill>
                  <a:srgbClr val="8B96B5"/>
                </a:solidFill>
                <a:latin typeface="맑은 고딕"/>
                <a:ea typeface="맑은 고딕"/>
              </a:rPr>
              <a:t>VidShare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lang="ko-KR">
                <a:solidFill>
                  <a:srgbClr val="4F46E5"/>
                </a:solidFill>
                <a:latin typeface="맑은 고딕"/>
                <a:ea typeface="맑은 고딕"/>
              </a:rPr>
              <a:t>03 · 사용자 화면 — 쇼츠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4846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lang="ko-KR">
                <a:solidFill>
                  <a:srgbClr val="101623"/>
                </a:solidFill>
                <a:latin typeface="맑은 고딕"/>
                <a:ea typeface="맑은 고딕"/>
              </a:rPr>
              <a:t>세로로 넘겨보는 쇼츠 피드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 lang="ko-KR">
                <a:solidFill>
                  <a:srgbClr val="2C3646"/>
                </a:solidFill>
                <a:latin typeface="맑은 고딕"/>
                <a:ea typeface="맑은 고딕"/>
              </a:rPr>
              <a:t>짧은 영상을 세로 스냅으로 빠르게 넘기며 봅니다. 좋아요·싫어요, 댓글, 공유가 화면 안에서 바로 이루어지고 비회원도 로그인 없이 열람할 수 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566160"/>
            <a:ext cx="626364" cy="329184"/>
          </a:xfrm>
          <a:prstGeom prst="roundRect">
            <a:avLst>
              <a:gd name="adj" fmla="val 50000"/>
            </a:avLst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150" b="1" lang="ko-KR">
                <a:solidFill>
                  <a:srgbClr val="2C3646"/>
                </a:solidFill>
                <a:latin typeface="맑은 고딕"/>
                <a:ea typeface="맑은 고딕"/>
              </a:rPr>
              <a:t>세로 스냅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9052" y="3566160"/>
            <a:ext cx="722376" cy="329184"/>
          </a:xfrm>
          <a:prstGeom prst="roundRect">
            <a:avLst>
              <a:gd name="adj" fmla="val 50000"/>
            </a:avLst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150" b="1" lang="ko-KR">
                <a:solidFill>
                  <a:srgbClr val="2C3646"/>
                </a:solidFill>
                <a:latin typeface="맑은 고딕"/>
                <a:ea typeface="맑은 고딕"/>
              </a:rPr>
              <a:t>좋아요·댓글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91156" y="3566160"/>
            <a:ext cx="1010412" cy="329184"/>
          </a:xfrm>
          <a:prstGeom prst="roundRect">
            <a:avLst>
              <a:gd name="adj" fmla="val 50000"/>
            </a:avLst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150" b="1" lang="ko-KR">
                <a:solidFill>
                  <a:srgbClr val="2C3646"/>
                </a:solidFill>
                <a:latin typeface="맑은 고딕"/>
                <a:ea typeface="맑은 고딕"/>
              </a:rPr>
              <a:t>비회원 열람 가능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77399" y="640080"/>
            <a:ext cx="2767442" cy="5760720"/>
          </a:xfrm>
          <a:prstGeom prst="roundRect">
            <a:avLst>
              <a:gd name="adj" fmla="val 9000"/>
            </a:avLst>
          </a:prstGeom>
          <a:solidFill>
            <a:srgbClr val="0D1220"/>
          </a:solidFill>
          <a:ln>
            <a:noFill/>
          </a:ln>
          <a:effectLst>
            <a:outerShdw blurRad="90000" dist="30000" dir="5400000" rotWithShape="0">
              <a:srgbClr val="1016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ront-feed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9695" y="722376"/>
            <a:ext cx="2602850" cy="55961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lang="ko-KR">
                <a:solidFill>
                  <a:srgbClr val="5F6B7F"/>
                </a:solidFill>
                <a:latin typeface="맑은 고딕"/>
                <a:ea typeface="맑은 고딕"/>
              </a:rPr>
              <a:t>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lang="ko-KR">
                <a:solidFill>
                  <a:srgbClr val="5F6B7F"/>
                </a:solidFill>
                <a:latin typeface="맑은 고딕"/>
                <a:ea typeface="맑은 고딕"/>
              </a:rPr>
              <a:t>VidShare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lang="ko-KR">
                <a:solidFill>
                  <a:srgbClr val="4F46E5"/>
                </a:solidFill>
                <a:latin typeface="맑은 고딕"/>
                <a:ea typeface="맑은 고딕"/>
              </a:rPr>
              <a:t>03 · 사용자 화면 — 커뮤니티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4846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lang="ko-KR">
                <a:solidFill>
                  <a:srgbClr val="101623"/>
                </a:solidFill>
                <a:latin typeface="맑은 고딕"/>
                <a:ea typeface="맑은 고딕"/>
              </a:rPr>
              <a:t>영상을 이야기로 잇는 커뮤니티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 lang="ko-KR">
                <a:solidFill>
                  <a:srgbClr val="2C3646"/>
                </a:solidFill>
                <a:latin typeface="맑은 고딕"/>
                <a:ea typeface="맑은 고딕"/>
              </a:rPr>
              <a:t>올린 영상을 커뮤니티 글로 공유해 같이 보고 이야기할 수 있습니다. 글마다 일련번호가 붙어 상세 페이지에서 확인할 수 있고, 댓글과 대댓글로 대화가 이어집니다.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566160"/>
            <a:ext cx="722376" cy="329184"/>
          </a:xfrm>
          <a:prstGeom prst="roundRect">
            <a:avLst>
              <a:gd name="adj" fmla="val 50000"/>
            </a:avLst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150" b="1" lang="ko-KR">
                <a:solidFill>
                  <a:srgbClr val="2C3646"/>
                </a:solidFill>
                <a:latin typeface="맑은 고딕"/>
                <a:ea typeface="맑은 고딕"/>
              </a:rPr>
              <a:t>게시글 공유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5064" y="3566160"/>
            <a:ext cx="722376" cy="329184"/>
          </a:xfrm>
          <a:prstGeom prst="roundRect">
            <a:avLst>
              <a:gd name="adj" fmla="val 50000"/>
            </a:avLst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150" b="1" lang="ko-KR">
                <a:solidFill>
                  <a:srgbClr val="2C3646"/>
                </a:solidFill>
                <a:latin typeface="맑은 고딕"/>
                <a:ea typeface="맑은 고딕"/>
              </a:rPr>
              <a:t>댓글·대댓글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87168" y="3566160"/>
            <a:ext cx="530352" cy="329184"/>
          </a:xfrm>
          <a:prstGeom prst="roundRect">
            <a:avLst>
              <a:gd name="adj" fmla="val 50000"/>
            </a:avLst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150" b="1" lang="ko-KR">
                <a:solidFill>
                  <a:srgbClr val="2C3646"/>
                </a:solidFill>
                <a:latin typeface="맑은 고딕"/>
                <a:ea typeface="맑은 고딕"/>
              </a:rPr>
              <a:t>일련번호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573911"/>
            <a:ext cx="5760720" cy="389305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>
            <a:outerShdw blurRad="90000" dist="30000" dir="5400000" rotWithShape="0">
              <a:srgbClr val="1016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97296" y="1683639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43600" y="1683639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89904" y="1683639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ront-commu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66519"/>
            <a:ext cx="5760720" cy="3600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lang="ko-KR">
                <a:solidFill>
                  <a:srgbClr val="5F6B7F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lang="ko-KR">
                <a:solidFill>
                  <a:srgbClr val="5F6B7F"/>
                </a:solidFill>
                <a:latin typeface="맑은 고딕"/>
                <a:ea typeface="맑은 고딕"/>
              </a:rPr>
              <a:t>VidShare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lang="ko-KR">
                <a:solidFill>
                  <a:srgbClr val="4F46E5"/>
                </a:solidFill>
                <a:latin typeface="맑은 고딕"/>
                <a:ea typeface="맑은 고딕"/>
              </a:rPr>
              <a:t>03 · 사용자 화면 — 검색·프로필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4846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lang="ko-KR">
                <a:solidFill>
                  <a:srgbClr val="101623"/>
                </a:solidFill>
                <a:latin typeface="맑은 고딕"/>
                <a:ea typeface="맑은 고딕"/>
              </a:rPr>
              <a:t>통합 검색과 프로필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 lang="ko-KR">
                <a:solidFill>
                  <a:srgbClr val="2C3646"/>
                </a:solidFill>
                <a:latin typeface="맑은 고딕"/>
                <a:ea typeface="맑은 고딕"/>
              </a:rPr>
              <a:t>쇼츠·롱폼·커뮤니티·유저 네 영역을 한 번에 검색합니다. 프로필에서는 올린 영상, 팔로워·팔로잉, 재생목록을 탭으로 나눠 볼 수 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566160"/>
            <a:ext cx="626364" cy="329184"/>
          </a:xfrm>
          <a:prstGeom prst="roundRect">
            <a:avLst>
              <a:gd name="adj" fmla="val 50000"/>
            </a:avLst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150" b="1" lang="ko-KR">
                <a:solidFill>
                  <a:srgbClr val="2C3646"/>
                </a:solidFill>
                <a:latin typeface="맑은 고딕"/>
                <a:ea typeface="맑은 고딕"/>
              </a:rPr>
              <a:t>통합 검색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9052" y="3566160"/>
            <a:ext cx="434340" cy="329184"/>
          </a:xfrm>
          <a:prstGeom prst="roundRect">
            <a:avLst>
              <a:gd name="adj" fmla="val 50000"/>
            </a:avLst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150" b="1" lang="ko-KR">
                <a:solidFill>
                  <a:srgbClr val="2C3646"/>
                </a:solidFill>
                <a:latin typeface="맑은 고딕"/>
                <a:ea typeface="맑은 고딕"/>
              </a:rPr>
              <a:t>팔로우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566160"/>
            <a:ext cx="530352" cy="329184"/>
          </a:xfrm>
          <a:prstGeom prst="roundRect">
            <a:avLst>
              <a:gd name="adj" fmla="val 50000"/>
            </a:avLst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150" b="1" lang="ko-KR">
                <a:solidFill>
                  <a:srgbClr val="2C3646"/>
                </a:solidFill>
                <a:latin typeface="맑은 고딕"/>
                <a:ea typeface="맑은 고딕"/>
              </a:rPr>
              <a:t>재생목록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573911"/>
            <a:ext cx="5760720" cy="389305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>
            <a:outerShdw blurRad="90000" dist="30000" dir="5400000" rotWithShape="0">
              <a:srgbClr val="1016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97296" y="1683639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43600" y="1683639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89904" y="1683639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ront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66519"/>
            <a:ext cx="5760720" cy="3600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lang="ko-KR">
                <a:solidFill>
                  <a:srgbClr val="5F6B7F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lang="ko-KR">
                <a:solidFill>
                  <a:srgbClr val="5F6B7F"/>
                </a:solidFill>
                <a:latin typeface="맑은 고딕"/>
                <a:ea typeface="맑은 고딕"/>
              </a:rPr>
              <a:t>VidShare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lang="ko-KR">
                <a:solidFill>
                  <a:srgbClr val="4F46E5"/>
                </a:solidFill>
                <a:latin typeface="맑은 고딕"/>
                <a:ea typeface="맑은 고딕"/>
              </a:rPr>
              <a:t>03 · 사용자 화면 — 실시간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4846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lang="ko-KR">
                <a:solidFill>
                  <a:srgbClr val="101623"/>
                </a:solidFill>
                <a:latin typeface="맑은 고딕"/>
                <a:ea typeface="맑은 고딕"/>
              </a:rPr>
              <a:t>실시간 메시지와 알림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 lang="ko-KR">
                <a:solidFill>
                  <a:srgbClr val="2C3646"/>
                </a:solidFill>
                <a:latin typeface="맑은 고딕"/>
                <a:ea typeface="맑은 고딕"/>
              </a:rPr>
              <a:t>1:1 메시지는 WebSocket으로 실시간 송수신됩니다. 알림은 SSE로 즉시 도착하며, 읽음 처리와 전체 삭제도 확인 절차를 거쳐 안전하게 이루어집니다.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566160"/>
            <a:ext cx="1010412" cy="329184"/>
          </a:xfrm>
          <a:prstGeom prst="roundRect">
            <a:avLst>
              <a:gd name="adj" fmla="val 50000"/>
            </a:avLst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150" b="1" lang="ko-KR">
                <a:solidFill>
                  <a:srgbClr val="2C3646"/>
                </a:solidFill>
                <a:latin typeface="맑은 고딕"/>
                <a:ea typeface="맑은 고딕"/>
              </a:rPr>
              <a:t>WebSocket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43100" y="3566160"/>
            <a:ext cx="722376" cy="329184"/>
          </a:xfrm>
          <a:prstGeom prst="roundRect">
            <a:avLst>
              <a:gd name="adj" fmla="val 50000"/>
            </a:avLst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150" b="1" lang="ko-KR">
                <a:solidFill>
                  <a:srgbClr val="2C3646"/>
                </a:solidFill>
                <a:latin typeface="맑은 고딕"/>
                <a:ea typeface="맑은 고딕"/>
              </a:rPr>
              <a:t>SSE 알림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75204" y="3566160"/>
            <a:ext cx="434340" cy="329184"/>
          </a:xfrm>
          <a:prstGeom prst="roundRect">
            <a:avLst>
              <a:gd name="adj" fmla="val 50000"/>
            </a:avLst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150" b="1" lang="ko-KR">
                <a:solidFill>
                  <a:srgbClr val="2C3646"/>
                </a:solidFill>
                <a:latin typeface="맑은 고딕"/>
                <a:ea typeface="맑은 고딕"/>
              </a:rPr>
              <a:t>실시간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573911"/>
            <a:ext cx="5760720" cy="389305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>
            <a:outerShdw blurRad="90000" dist="30000" dir="5400000" rotWithShape="0">
              <a:srgbClr val="1016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97296" y="1683639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43600" y="1683639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89904" y="1683639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ront-mess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66519"/>
            <a:ext cx="5760720" cy="3600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lang="ko-KR">
                <a:solidFill>
                  <a:srgbClr val="5F6B7F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lang="ko-KR">
                <a:solidFill>
                  <a:srgbClr val="5F6B7F"/>
                </a:solidFill>
                <a:latin typeface="맑은 고딕"/>
                <a:ea typeface="맑은 고딕"/>
              </a:rPr>
              <a:t>VidShare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926080" y="-3291840"/>
            <a:ext cx="8229600" cy="8229600"/>
          </a:xfrm>
          <a:prstGeom prst="ellipse">
            <a:avLst/>
          </a:prstGeom>
          <a:solidFill>
            <a:srgbClr val="7C3AED"/>
            <a:alpha val="2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2194560"/>
            <a:ext cx="6858000" cy="6858000"/>
          </a:xfrm>
          <a:prstGeom prst="ellipse">
            <a:avLst/>
          </a:prstGeom>
          <a:solidFill>
            <a:srgbClr val="3EA6FF"/>
            <a:alpha val="16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lang="ko-KR">
                <a:solidFill>
                  <a:srgbClr val="3EA6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lang="ko-KR">
                <a:solidFill>
                  <a:srgbClr val="B9C2D6"/>
                </a:solidFill>
                <a:latin typeface="맑은 고딕"/>
                <a:ea typeface="맑은 고딕"/>
              </a:rPr>
              <a:t>AI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5156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lang="ko-KR">
                <a:solidFill>
                  <a:srgbClr val="FFFFFF"/>
                </a:solidFill>
                <a:latin typeface="맑은 고딕"/>
                <a:ea typeface="맑은 고딕"/>
              </a:rPr>
              <a:t>대화를 나누는</a:t>
            </a:r>
          </a:p>
          <a:p>
            <a:pPr algn="l">
              <a:lnSpc>
                <a:spcPct val="115000"/>
              </a:lnSpc>
            </a:pPr>
            <a:r>
              <a:rPr sz="4000" b="1" lang="ko-KR">
                <a:solidFill>
                  <a:srgbClr val="FFFFFF"/>
                </a:solidFill>
                <a:latin typeface="맑은 고딕"/>
                <a:ea typeface="맑은 고딕"/>
              </a:rPr>
              <a:t>AI 챗봇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lang="ko-KR">
                <a:solidFill>
                  <a:srgbClr val="B9C2D6"/>
                </a:solidFill>
                <a:latin typeface="맑은 고딕"/>
                <a:ea typeface="맑은 고딕"/>
              </a:rPr>
              <a:t>세 가지 모델 티어로 나눠 구성했습니다.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lang="ko-KR">
                <a:solidFill>
                  <a:srgbClr val="8B96B5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lang="ko-KR">
                <a:solidFill>
                  <a:srgbClr val="8B96B5"/>
                </a:solidFill>
                <a:latin typeface="맑은 고딕"/>
                <a:ea typeface="맑은 고딕"/>
              </a:rPr>
              <a:t>VidShare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lang="ko-KR">
                <a:solidFill>
                  <a:srgbClr val="7C3AED"/>
                </a:solidFill>
                <a:latin typeface="맑은 고딕"/>
                <a:ea typeface="맑은 고딕"/>
              </a:rPr>
              <a:t>04 · AI 챗봇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4846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lang="ko-KR">
                <a:solidFill>
                  <a:srgbClr val="101623"/>
                </a:solidFill>
                <a:latin typeface="맑은 고딕"/>
                <a:ea typeface="맑은 고딕"/>
              </a:rPr>
              <a:t>3가지 모델, 저장되는 대화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4572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 lang="ko-KR">
                <a:solidFill>
                  <a:srgbClr val="2C3646"/>
                </a:solidFill>
                <a:latin typeface="맑은 고딕"/>
                <a:ea typeface="맑은 고딕"/>
              </a:rPr>
              <a:t>누구나 쓸 수 있는 무료 모델부터, 로그인한 회원을 위한 대화 요약·저장 모델까지 세 단계로 나눴습니다.</a:t>
            </a:r>
          </a:p>
          <a:p>
            <a:pPr algn="l">
              <a:lnSpc>
                <a:spcPct val="160000"/>
              </a:lnSpc>
            </a:pPr>
            <a:r>
              <a:rPr sz="1400" b="0" lang="ko-KR">
                <a:solidFill>
                  <a:srgbClr val="2C3646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400" b="0" lang="ko-KR">
                <a:solidFill>
                  <a:srgbClr val="2C3646"/>
                </a:solidFill>
                <a:latin typeface="맑은 고딕"/>
                <a:ea typeface="맑은 고딕"/>
              </a:rPr>
              <a:t>이미지·PDF·문서 파일을 첨부해 질문할 수 있고, 답변은 굵게·목록 등 마크다운으로 보기 좋게 표시됩니다.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46120"/>
            <a:ext cx="4572000" cy="566928"/>
          </a:xfrm>
          <a:prstGeom prst="roundRect">
            <a:avLst>
              <a:gd name="adj" fmla="val 2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3392424"/>
            <a:ext cx="274320" cy="2743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3246120"/>
            <a:ext cx="1188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lang="ko-KR">
                <a:solidFill>
                  <a:srgbClr val="101623"/>
                </a:solidFill>
                <a:latin typeface="맑은 고딕"/>
                <a:ea typeface="맑은 고딕"/>
              </a:rPr>
              <a:t>Locals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246120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lang="ko-KR">
                <a:solidFill>
                  <a:srgbClr val="5F6B7F"/>
                </a:solidFill>
                <a:latin typeface="맑은 고딕"/>
                <a:ea typeface="맑은 고딕"/>
              </a:rPr>
              <a:t>무료 · 비회원 가능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31920"/>
            <a:ext cx="4572000" cy="566928"/>
          </a:xfrm>
          <a:prstGeom prst="roundRect">
            <a:avLst>
              <a:gd name="adj" fmla="val 2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4078224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3931920"/>
            <a:ext cx="1188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lang="ko-KR">
                <a:solidFill>
                  <a:srgbClr val="101623"/>
                </a:solidFill>
                <a:latin typeface="맑은 고딕"/>
                <a:ea typeface="맑은 고딕"/>
              </a:rPr>
              <a:t>Vide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931920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lang="ko-KR">
                <a:solidFill>
                  <a:srgbClr val="5F6B7F"/>
                </a:solidFill>
                <a:latin typeface="맑은 고딕"/>
                <a:ea typeface="맑은 고딕"/>
              </a:rPr>
              <a:t>회원 전용 · 대화 요약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617720"/>
            <a:ext cx="4572000" cy="566928"/>
          </a:xfrm>
          <a:prstGeom prst="roundRect">
            <a:avLst>
              <a:gd name="adj" fmla="val 2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4764024"/>
            <a:ext cx="274320" cy="274320"/>
          </a:xfrm>
          <a:prstGeom prst="ellipse">
            <a:avLst/>
          </a:prstGeom>
          <a:solidFill>
            <a:srgbClr val="3E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4617720"/>
            <a:ext cx="1188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lang="ko-KR">
                <a:solidFill>
                  <a:srgbClr val="101623"/>
                </a:solidFill>
                <a:latin typeface="맑은 고딕"/>
                <a:ea typeface="맑은 고딕"/>
              </a:rPr>
              <a:t>Shape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617720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lang="ko-KR">
                <a:solidFill>
                  <a:srgbClr val="5F6B7F"/>
                </a:solidFill>
                <a:latin typeface="맑은 고딕"/>
                <a:ea typeface="맑은 고딕"/>
              </a:rPr>
              <a:t>회원 전용 · 대화 기억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1573911"/>
            <a:ext cx="5760720" cy="389305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>
            <a:outerShdw blurRad="90000" dist="30000" dir="5400000" rotWithShape="0">
              <a:srgbClr val="1016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97296" y="1683639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600" y="1683639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89904" y="1683639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ront-chat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66519"/>
            <a:ext cx="5760720" cy="36004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lang="ko-KR">
                <a:solidFill>
                  <a:srgbClr val="5F6B7F"/>
                </a:solidFill>
                <a:latin typeface="맑은 고딕"/>
                <a:ea typeface="맑은 고딕"/>
              </a:rP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lang="ko-KR">
                <a:solidFill>
                  <a:srgbClr val="5F6B7F"/>
                </a:solidFill>
                <a:latin typeface="맑은 고딕"/>
                <a:ea typeface="맑은 고딕"/>
              </a:rPr>
              <a:t>VidShare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926080" y="-3291840"/>
            <a:ext cx="8229600" cy="8229600"/>
          </a:xfrm>
          <a:prstGeom prst="ellipse">
            <a:avLst/>
          </a:prstGeom>
          <a:solidFill>
            <a:srgbClr val="7C3AED"/>
            <a:alpha val="2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2194560"/>
            <a:ext cx="6858000" cy="6858000"/>
          </a:xfrm>
          <a:prstGeom prst="ellipse">
            <a:avLst/>
          </a:prstGeom>
          <a:solidFill>
            <a:srgbClr val="3EA6FF"/>
            <a:alpha val="16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lang="ko-KR">
                <a:solidFill>
                  <a:srgbClr val="3EA6FF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lang="ko-KR">
                <a:solidFill>
                  <a:srgbClr val="B9C2D6"/>
                </a:solidFill>
                <a:latin typeface="맑은 고딕"/>
                <a:ea typeface="맑은 고딕"/>
              </a:rPr>
              <a:t>ADMIN CONSOLE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5156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lang="ko-KR">
                <a:solidFill>
                  <a:srgbClr val="FFFFFF"/>
                </a:solidFill>
                <a:latin typeface="맑은 고딕"/>
                <a:ea typeface="맑은 고딕"/>
              </a:rPr>
              <a:t>운영까지 갖춘</a:t>
            </a:r>
          </a:p>
          <a:p>
            <a:pPr algn="l">
              <a:lnSpc>
                <a:spcPct val="115000"/>
              </a:lnSpc>
            </a:pPr>
            <a:r>
              <a:rPr sz="4000" b="1" lang="ko-KR">
                <a:solidFill>
                  <a:srgbClr val="FFFFFF"/>
                </a:solidFill>
                <a:latin typeface="맑은 고딕"/>
                <a:ea typeface="맑은 고딕"/>
              </a:rPr>
              <a:t>관리자 콘솔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lang="ko-KR">
                <a:solidFill>
                  <a:srgbClr val="B9C2D6"/>
                </a:solidFill>
                <a:latin typeface="맑은 고딕"/>
                <a:ea typeface="맑은 고딕"/>
              </a:rPr>
              <a:t>신고 처리부터 계정 정지까지, 별도 앱으로 만들었습니다.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lang="ko-KR">
                <a:solidFill>
                  <a:srgbClr val="8B96B5"/>
                </a:solidFill>
                <a:latin typeface="맑은 고딕"/>
                <a:ea typeface="맑은 고딕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lang="ko-KR">
                <a:solidFill>
                  <a:srgbClr val="8B96B5"/>
                </a:solidFill>
                <a:latin typeface="맑은 고딕"/>
                <a:ea typeface="맑은 고딕"/>
              </a:rPr>
              <a:t>VidShare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lang="ko-KR">
                <a:solidFill>
                  <a:srgbClr val="B45309"/>
                </a:solidFill>
                <a:latin typeface="맑은 고딕"/>
                <a:ea typeface="맑은 고딕"/>
              </a:rPr>
              <a:t>05 · 관리자 콘솔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4846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lang="ko-KR">
                <a:solidFill>
                  <a:srgbClr val="101623"/>
                </a:solidFill>
                <a:latin typeface="맑은 고딕"/>
                <a:ea typeface="맑은 고딕"/>
              </a:rPr>
              <a:t>운영 대시보드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 lang="ko-KR">
                <a:solidFill>
                  <a:srgbClr val="2C3646"/>
                </a:solidFill>
                <a:latin typeface="맑은 고딕"/>
                <a:ea typeface="맑은 고딕"/>
              </a:rPr>
              <a:t>미처리 신고, 미답변 문의, 정지 계정 수를 한눈에 보여줍니다. "처리해야 할 일이 남아 있는지"가 운영자에게 가장 먼저 필요한 정보이기 때문입니다.</a:t>
            </a:r>
          </a:p>
          <a:p>
            <a:pPr algn="l">
              <a:lnSpc>
                <a:spcPct val="155000"/>
              </a:lnSpc>
            </a:pPr>
            <a:r>
              <a:rPr sz="1350" b="0" lang="ko-KR">
                <a:solidFill>
                  <a:srgbClr val="2C3646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350" b="0" lang="ko-KR">
                <a:solidFill>
                  <a:srgbClr val="2C3646"/>
                </a:solidFill>
                <a:latin typeface="맑은 고딕"/>
                <a:ea typeface="맑은 고딕"/>
              </a:rPr>
              <a:t>사용자 웹앱과는 세션 쿠키 이름부터 다른 별도 애플리케이션으로 만들어, 같은 브라우저에서 두 화면을 동시에 열어 두고 확인할 수 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532120"/>
            <a:ext cx="626364" cy="329184"/>
          </a:xfrm>
          <a:prstGeom prst="roundRect">
            <a:avLst>
              <a:gd name="adj" fmla="val 50000"/>
            </a:avLst>
          </a:prstGeom>
          <a:solidFill>
            <a:srgbClr val="FD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150" b="1" lang="ko-KR">
                <a:solidFill>
                  <a:srgbClr val="B45309"/>
                </a:solidFill>
                <a:latin typeface="맑은 고딕"/>
                <a:ea typeface="맑은 고딕"/>
              </a:rPr>
              <a:t>별도 세션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9052" y="5532120"/>
            <a:ext cx="722376" cy="329184"/>
          </a:xfrm>
          <a:prstGeom prst="roundRect">
            <a:avLst>
              <a:gd name="adj" fmla="val 50000"/>
            </a:avLst>
          </a:prstGeom>
          <a:solidFill>
            <a:srgbClr val="FD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150" b="1" lang="ko-KR">
                <a:solidFill>
                  <a:srgbClr val="B45309"/>
                </a:solidFill>
                <a:latin typeface="맑은 고딕"/>
                <a:ea typeface="맑은 고딕"/>
              </a:rPr>
              <a:t>실시간 지표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573911"/>
            <a:ext cx="5760720" cy="389305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>
            <a:outerShdw blurRad="90000" dist="30000" dir="5400000" rotWithShape="0">
              <a:srgbClr val="1016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97296" y="1683639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43600" y="1683639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89904" y="1683639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nsole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66519"/>
            <a:ext cx="5760720" cy="3600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lang="ko-KR">
                <a:solidFill>
                  <a:srgbClr val="5F6B7F"/>
                </a:solidFill>
                <a:latin typeface="맑은 고딕"/>
                <a:ea typeface="맑은 고딕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lang="ko-KR">
                <a:solidFill>
                  <a:srgbClr val="5F6B7F"/>
                </a:solidFill>
                <a:latin typeface="맑은 고딕"/>
                <a:ea typeface="맑은 고딕"/>
              </a:rPr>
              <a:t>VidShare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lang="ko-KR">
                <a:solidFill>
                  <a:srgbClr val="B45309"/>
                </a:solidFill>
                <a:latin typeface="맑은 고딕"/>
                <a:ea typeface="맑은 고딕"/>
              </a:rPr>
              <a:t>05 · 관리자 콘솔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lang="ko-KR">
                <a:solidFill>
                  <a:srgbClr val="101623"/>
                </a:solidFill>
                <a:latin typeface="맑은 고딕"/>
                <a:ea typeface="맑은 고딕"/>
              </a:rPr>
              <a:t>신고 처리부터 문의 답변까지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05381"/>
            <a:ext cx="3383280" cy="240715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>
            <a:outerShdw blurRad="90000" dist="30000" dir="5400000" rotWithShape="0">
              <a:srgbClr val="1016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" y="2015109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015109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43584" y="2015109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nsole-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97989"/>
            <a:ext cx="3383280" cy="2114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48920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lang="ko-KR">
                <a:solidFill>
                  <a:srgbClr val="101623"/>
                </a:solidFill>
                <a:latin typeface="맑은 고딕"/>
                <a:ea typeface="맑은 고딕"/>
              </a:rPr>
              <a:t>신고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85232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lang="ko-KR">
                <a:solidFill>
                  <a:srgbClr val="5F6B7F"/>
                </a:solidFill>
                <a:latin typeface="맑은 고딕"/>
                <a:ea typeface="맑은 고딕"/>
              </a:rPr>
              <a:t>상태별 조회, 조치함/반려 처리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05381"/>
            <a:ext cx="3383280" cy="240715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>
            <a:outerShdw blurRad="90000" dist="30000" dir="5400000" rotWithShape="0">
              <a:srgbClr val="1016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71416" y="2015109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0" y="2015109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64024" y="2015109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onsole-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197989"/>
            <a:ext cx="3383280" cy="2114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43400" y="48920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lang="ko-KR">
                <a:solidFill>
                  <a:srgbClr val="101623"/>
                </a:solidFill>
                <a:latin typeface="맑은 고딕"/>
                <a:ea typeface="맑은 고딕"/>
              </a:rPr>
              <a:t>유저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5285232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lang="ko-KR">
                <a:solidFill>
                  <a:srgbClr val="5F6B7F"/>
                </a:solidFill>
                <a:latin typeface="맑은 고딕"/>
                <a:ea typeface="맑은 고딕"/>
              </a:rPr>
              <a:t>계정 검색, 정지·해제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905381"/>
            <a:ext cx="3383280" cy="240715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>
            <a:outerShdw blurRad="90000" dist="30000" dir="5400000" rotWithShape="0">
              <a:srgbClr val="1016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91856" y="2015109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38160" y="2015109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84464" y="2015109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onsole-cont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2197989"/>
            <a:ext cx="3383280" cy="21145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863840" y="48920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lang="ko-KR">
                <a:solidFill>
                  <a:srgbClr val="101623"/>
                </a:solidFill>
                <a:latin typeface="맑은 고딕"/>
                <a:ea typeface="맑은 고딕"/>
              </a:rPr>
              <a:t>콘텐츠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285232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lang="ko-KR">
                <a:solidFill>
                  <a:srgbClr val="5F6B7F"/>
                </a:solidFill>
                <a:latin typeface="맑은 고딕"/>
                <a:ea typeface="맑은 고딕"/>
              </a:rPr>
              <a:t>쇼츠·롱폼·커뮤니티 삭제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lang="ko-KR">
                <a:solidFill>
                  <a:srgbClr val="5F6B7F"/>
                </a:solidFill>
                <a:latin typeface="맑은 고딕"/>
                <a:ea typeface="맑은 고딕"/>
              </a:rPr>
              <a:t>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lang="ko-KR">
                <a:solidFill>
                  <a:srgbClr val="5F6B7F"/>
                </a:solidFill>
                <a:latin typeface="맑은 고딕"/>
                <a:ea typeface="맑은 고딕"/>
              </a:rPr>
              <a:t>VidShare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926080" y="-3291840"/>
            <a:ext cx="8229600" cy="8229600"/>
          </a:xfrm>
          <a:prstGeom prst="ellipse">
            <a:avLst/>
          </a:prstGeom>
          <a:solidFill>
            <a:srgbClr val="7C3AED"/>
            <a:alpha val="2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2194560"/>
            <a:ext cx="6858000" cy="6858000"/>
          </a:xfrm>
          <a:prstGeom prst="ellipse">
            <a:avLst/>
          </a:prstGeom>
          <a:solidFill>
            <a:srgbClr val="3EA6FF"/>
            <a:alpha val="16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lang="ko-KR">
                <a:solidFill>
                  <a:srgbClr val="3EA6FF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lang="ko-KR">
                <a:solidFill>
                  <a:srgbClr val="B9C2D6"/>
                </a:solidFill>
                <a:latin typeface="맑은 고딕"/>
                <a:ea typeface="맑은 고딕"/>
              </a:rPr>
              <a:t>TECH &amp;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5156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lang="ko-KR">
                <a:solidFill>
                  <a:srgbClr val="FFFFFF"/>
                </a:solidFill>
                <a:latin typeface="맑은 고딕"/>
                <a:ea typeface="맑은 고딕"/>
              </a:rPr>
              <a:t>무엇으로,</a:t>
            </a:r>
          </a:p>
          <a:p>
            <a:pPr algn="l">
              <a:lnSpc>
                <a:spcPct val="115000"/>
              </a:lnSpc>
            </a:pPr>
            <a:r>
              <a:rPr sz="4000" b="1" lang="ko-KR">
                <a:solidFill>
                  <a:srgbClr val="FFFFFF"/>
                </a:solidFill>
                <a:latin typeface="맑은 고딕"/>
                <a:ea typeface="맑은 고딕"/>
              </a:rPr>
              <a:t>얼마나 만들었나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lang="ko-KR">
                <a:solidFill>
                  <a:srgbClr val="8B96B5"/>
                </a:solidFill>
                <a:latin typeface="맑은 고딕"/>
                <a:ea typeface="맑은 고딕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lang="ko-KR">
                <a:solidFill>
                  <a:srgbClr val="8B96B5"/>
                </a:solidFill>
                <a:latin typeface="맑은 고딕"/>
                <a:ea typeface="맑은 고딕"/>
              </a:rPr>
              <a:t>VidShare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lang="ko-KR">
                <a:solidFill>
                  <a:srgbClr val="4F46E5"/>
                </a:solidFill>
                <a:latin typeface="맑은 고딕"/>
                <a:ea typeface="맑은 고딕"/>
              </a:rPr>
              <a:t>06 · 기술 스택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lang="ko-KR">
                <a:solidFill>
                  <a:srgbClr val="101623"/>
                </a:solidFill>
                <a:latin typeface="맑은 고딕"/>
                <a:ea typeface="맑은 고딕"/>
              </a:rPr>
              <a:t>사용한 기술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1907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lang="ko-KR">
                <a:solidFill>
                  <a:srgbClr val="101623"/>
                </a:solidFill>
                <a:latin typeface="맑은 고딕"/>
                <a:ea typeface="맑은 고딕"/>
              </a:rPr>
              <a:t>프론트엔드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1691640"/>
            <a:ext cx="1106424" cy="384048"/>
          </a:xfrm>
          <a:prstGeom prst="roundRect">
            <a:avLst>
              <a:gd name="adj" fmla="val 5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00" b="1" lang="ko-KR">
                <a:solidFill>
                  <a:srgbClr val="2C3646"/>
                </a:solidFill>
                <a:latin typeface="맑은 고딕"/>
                <a:ea typeface="맑은 고딕"/>
              </a:rPr>
              <a:t>Next.js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67912" y="169164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00" b="1" lang="ko-KR">
                <a:solidFill>
                  <a:srgbClr val="2C3646"/>
                </a:solidFill>
                <a:latin typeface="맑은 고딕"/>
                <a:ea typeface="맑은 고딕"/>
              </a:rPr>
              <a:t>React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1691640"/>
            <a:ext cx="1106424" cy="384048"/>
          </a:xfrm>
          <a:prstGeom prst="roundRect">
            <a:avLst>
              <a:gd name="adj" fmla="val 5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00" b="1" lang="ko-KR">
                <a:solidFill>
                  <a:srgbClr val="2C3646"/>
                </a:solidFill>
                <a:latin typeface="맑은 고딕"/>
                <a:ea typeface="맑은 고딕"/>
              </a:rPr>
              <a:t>TypeScript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8192" y="1691640"/>
            <a:ext cx="1586484" cy="384048"/>
          </a:xfrm>
          <a:prstGeom prst="roundRect">
            <a:avLst>
              <a:gd name="adj" fmla="val 5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00" b="1" lang="ko-KR">
                <a:solidFill>
                  <a:srgbClr val="2C3646"/>
                </a:solidFill>
                <a:latin typeface="맑은 고딕"/>
                <a:ea typeface="맑은 고딕"/>
              </a:rPr>
              <a:t>Tailwind CSS v4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04404" y="1691640"/>
            <a:ext cx="1490472" cy="384048"/>
          </a:xfrm>
          <a:prstGeom prst="roundRect">
            <a:avLst>
              <a:gd name="adj" fmla="val 5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00" b="1" lang="ko-KR">
                <a:solidFill>
                  <a:srgbClr val="2C3646"/>
                </a:solidFill>
                <a:latin typeface="맑은 고딕"/>
                <a:ea typeface="맑은 고딕"/>
              </a:rPr>
              <a:t>TanStack 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9631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lang="ko-KR">
                <a:solidFill>
                  <a:srgbClr val="101623"/>
                </a:solidFill>
                <a:latin typeface="맑은 고딕"/>
                <a:ea typeface="맑은 고딕"/>
              </a:rPr>
              <a:t>백엔드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2468880"/>
            <a:ext cx="818388" cy="384048"/>
          </a:xfrm>
          <a:prstGeom prst="roundRect">
            <a:avLst>
              <a:gd name="adj" fmla="val 5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00" b="1" lang="ko-KR">
                <a:solidFill>
                  <a:srgbClr val="2C3646"/>
                </a:solidFill>
                <a:latin typeface="맑은 고딕"/>
                <a:ea typeface="맑은 고딕"/>
              </a:rPr>
              <a:t>Node.js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79876" y="2468880"/>
            <a:ext cx="818388" cy="384048"/>
          </a:xfrm>
          <a:prstGeom prst="roundRect">
            <a:avLst>
              <a:gd name="adj" fmla="val 5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00" b="1" lang="ko-KR">
                <a:solidFill>
                  <a:srgbClr val="2C3646"/>
                </a:solidFill>
                <a:latin typeface="맑은 고딕"/>
                <a:ea typeface="맑은 고딕"/>
              </a:rPr>
              <a:t>Express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7992" y="2468880"/>
            <a:ext cx="722376" cy="384048"/>
          </a:xfrm>
          <a:prstGeom prst="roundRect">
            <a:avLst>
              <a:gd name="adj" fmla="val 5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00" b="1" lang="ko-KR">
                <a:solidFill>
                  <a:srgbClr val="2C3646"/>
                </a:solidFill>
                <a:latin typeface="맑은 고딕"/>
                <a:ea typeface="맑은 고딕"/>
              </a:rPr>
              <a:t>SQLite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40096" y="2468880"/>
            <a:ext cx="1010412" cy="384048"/>
          </a:xfrm>
          <a:prstGeom prst="roundRect">
            <a:avLst>
              <a:gd name="adj" fmla="val 5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00" b="1" lang="ko-KR">
                <a:solidFill>
                  <a:srgbClr val="2C3646"/>
                </a:solidFill>
                <a:latin typeface="맑은 고딕"/>
                <a:ea typeface="맑은 고딕"/>
              </a:rPr>
              <a:t>WebSocket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60236" y="2468880"/>
            <a:ext cx="434340" cy="384048"/>
          </a:xfrm>
          <a:prstGeom prst="roundRect">
            <a:avLst>
              <a:gd name="adj" fmla="val 5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00" b="1" lang="ko-KR">
                <a:solidFill>
                  <a:srgbClr val="2C3646"/>
                </a:solidFill>
                <a:latin typeface="맑은 고딕"/>
                <a:ea typeface="맑은 고딕"/>
              </a:rPr>
              <a:t>SSE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27355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lang="ko-KR">
                <a:solidFill>
                  <a:srgbClr val="101623"/>
                </a:solidFill>
                <a:latin typeface="맑은 고딕"/>
                <a:ea typeface="맑은 고딕"/>
              </a:rPr>
              <a:t>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51760" y="3246120"/>
            <a:ext cx="1010412" cy="384048"/>
          </a:xfrm>
          <a:prstGeom prst="roundRect">
            <a:avLst>
              <a:gd name="adj" fmla="val 5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00" b="1" lang="ko-KR">
                <a:solidFill>
                  <a:srgbClr val="2C3646"/>
                </a:solidFill>
                <a:latin typeface="맑은 고딕"/>
                <a:ea typeface="맑은 고딕"/>
              </a:rPr>
              <a:t>LangChain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71900" y="3246120"/>
            <a:ext cx="1010412" cy="384048"/>
          </a:xfrm>
          <a:prstGeom prst="roundRect">
            <a:avLst>
              <a:gd name="adj" fmla="val 5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00" b="1" lang="ko-KR">
                <a:solidFill>
                  <a:srgbClr val="2C3646"/>
                </a:solidFill>
                <a:latin typeface="맑은 고딕"/>
                <a:ea typeface="맑은 고딕"/>
              </a:rPr>
              <a:t>LangGraph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3246120"/>
            <a:ext cx="1394460" cy="384048"/>
          </a:xfrm>
          <a:prstGeom prst="roundRect">
            <a:avLst>
              <a:gd name="adj" fmla="val 5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00" b="1" lang="ko-KR">
                <a:solidFill>
                  <a:srgbClr val="2C3646"/>
                </a:solidFill>
                <a:latin typeface="맑은 고딕"/>
                <a:ea typeface="맑은 고딕"/>
              </a:rPr>
              <a:t>Google Gemini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96228" y="3246120"/>
            <a:ext cx="530352" cy="384048"/>
          </a:xfrm>
          <a:prstGeom prst="roundRect">
            <a:avLst>
              <a:gd name="adj" fmla="val 5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00" b="1" lang="ko-KR">
                <a:solidFill>
                  <a:srgbClr val="2C3646"/>
                </a:solidFill>
                <a:latin typeface="맑은 고딕"/>
                <a:ea typeface="맑은 고딕"/>
              </a:rPr>
              <a:t>Groq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05079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lang="ko-KR">
                <a:solidFill>
                  <a:srgbClr val="101623"/>
                </a:solidFill>
                <a:latin typeface="맑은 고딕"/>
                <a:ea typeface="맑은 고딕"/>
              </a:rPr>
              <a:t>배포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51760" y="4023360"/>
            <a:ext cx="1874519" cy="384048"/>
          </a:xfrm>
          <a:prstGeom prst="roundRect">
            <a:avLst>
              <a:gd name="adj" fmla="val 5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00" b="1" lang="ko-KR">
                <a:solidFill>
                  <a:srgbClr val="2C3646"/>
                </a:solidFill>
                <a:latin typeface="맑은 고딕"/>
                <a:ea typeface="맑은 고딕"/>
              </a:rPr>
              <a:t>Cloudflare Workers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36007" y="4023360"/>
            <a:ext cx="1778507" cy="384048"/>
          </a:xfrm>
          <a:prstGeom prst="roundRect">
            <a:avLst>
              <a:gd name="adj" fmla="val 5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00" b="1" lang="ko-KR">
                <a:solidFill>
                  <a:srgbClr val="2C3646"/>
                </a:solidFill>
                <a:latin typeface="맑은 고딕"/>
                <a:ea typeface="맑은 고딕"/>
              </a:rPr>
              <a:t>Cloudflare Tunnel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24242" y="4023360"/>
            <a:ext cx="722376" cy="384048"/>
          </a:xfrm>
          <a:prstGeom prst="roundRect">
            <a:avLst>
              <a:gd name="adj" fmla="val 5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00" b="1" lang="ko-KR">
                <a:solidFill>
                  <a:srgbClr val="2C3646"/>
                </a:solidFill>
                <a:latin typeface="맑은 고딕"/>
                <a:ea typeface="맑은 고딕"/>
              </a:rPr>
              <a:t>GitHub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2578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1" lang="ko-KR">
                <a:solidFill>
                  <a:srgbClr val="4F46E5"/>
                </a:solidFill>
                <a:latin typeface="맑은 고딕"/>
                <a:ea typeface="맑은 고딕"/>
              </a:rPr>
              <a:t>왜 이렇게 골랐나  </a:t>
            </a:r>
            <a:r>
              <a:rPr sz="1350" b="0" lang="ko-KR">
                <a:solidFill>
                  <a:srgbClr val="2C3646"/>
                </a:solidFill>
                <a:latin typeface="맑은 고딕"/>
                <a:ea typeface="맑은 고딕"/>
              </a:rPr>
              <a:t>모두가 아는 인기 기술을 그대로 쓰기보다, 이 규모(개인 프로젝트, 3개 앱)에 맞는 것을 택했습니다. 예를 들어 SQLite는 설치 없이 파일 하나로 영속화되고, 동기 API라 트랜잭션 코드가 단순합니다.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lang="ko-KR">
                <a:solidFill>
                  <a:srgbClr val="5F6B7F"/>
                </a:solidFill>
                <a:latin typeface="맑은 고딕"/>
                <a:ea typeface="맑은 고딕"/>
              </a:rPr>
              <a:t>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lang="ko-KR">
                <a:solidFill>
                  <a:srgbClr val="5F6B7F"/>
                </a:solidFill>
                <a:latin typeface="맑은 고딕"/>
                <a:ea typeface="맑은 고딕"/>
              </a:rPr>
              <a:t>VidShare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lang="ko-KR">
                <a:solidFill>
                  <a:srgbClr val="3EA6FF"/>
                </a:solidFill>
                <a:latin typeface="맑은 고딕"/>
                <a:ea typeface="맑은 고딕"/>
              </a:rPr>
              <a:t>06 · 프로젝트 규모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lang="ko-KR">
                <a:solidFill>
                  <a:srgbClr val="FFFFFF"/>
                </a:solidFill>
                <a:latin typeface="맑은 고딕"/>
                <a:ea typeface="맑은 고딕"/>
              </a:rPr>
              <a:t>숫자로 보는 VidShare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3291840" cy="1691639"/>
          </a:xfrm>
          <a:prstGeom prst="roundRect">
            <a:avLst>
              <a:gd name="adj" fmla="val 10000"/>
            </a:avLst>
          </a:prstGeom>
          <a:solidFill>
            <a:srgbClr val="151D31"/>
          </a:solidFill>
          <a:ln w="9525">
            <a:solidFill>
              <a:srgbClr val="273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75688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lang="ko-KR">
                <a:solidFill>
                  <a:srgbClr val="FFFFFF"/>
                </a:solidFill>
                <a:latin typeface="맑은 고딕"/>
                <a:ea typeface="맑은 고딕"/>
              </a:rPr>
              <a:t>15,700+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lang="ko-KR">
                <a:solidFill>
                  <a:srgbClr val="B9C2D6"/>
                </a:solidFill>
                <a:latin typeface="맑은 고딕"/>
                <a:ea typeface="맑은 고딕"/>
              </a:rPr>
              <a:t>줄의 TypeScript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83080"/>
            <a:ext cx="3291840" cy="1691639"/>
          </a:xfrm>
          <a:prstGeom prst="roundRect">
            <a:avLst>
              <a:gd name="adj" fmla="val 10000"/>
            </a:avLst>
          </a:prstGeom>
          <a:solidFill>
            <a:srgbClr val="151D31"/>
          </a:solidFill>
          <a:ln w="9525">
            <a:solidFill>
              <a:srgbClr val="273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075688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lang="ko-KR">
                <a:solidFill>
                  <a:srgbClr val="FFFFFF"/>
                </a:solidFill>
                <a:latin typeface="맑은 고딕"/>
                <a:ea typeface="맑은 고딕"/>
              </a:rPr>
              <a:t>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834640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lang="ko-KR">
                <a:solidFill>
                  <a:srgbClr val="B9C2D6"/>
                </a:solidFill>
                <a:latin typeface="맑은 고딕"/>
                <a:ea typeface="맑은 고딕"/>
              </a:rPr>
              <a:t>REST API 엔드포인트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783080"/>
            <a:ext cx="3291840" cy="1691639"/>
          </a:xfrm>
          <a:prstGeom prst="roundRect">
            <a:avLst>
              <a:gd name="adj" fmla="val 10000"/>
            </a:avLst>
          </a:prstGeom>
          <a:solidFill>
            <a:srgbClr val="151D31"/>
          </a:solidFill>
          <a:ln w="9525">
            <a:solidFill>
              <a:srgbClr val="273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075688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lang="ko-KR">
                <a:solidFill>
                  <a:srgbClr val="FFFFFF"/>
                </a:solidFill>
                <a:latin typeface="맑은 고딕"/>
                <a:ea typeface="맑은 고딕"/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834640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lang="ko-KR">
                <a:solidFill>
                  <a:srgbClr val="B9C2D6"/>
                </a:solidFill>
                <a:latin typeface="맑은 고딕"/>
                <a:ea typeface="맑은 고딕"/>
              </a:rPr>
              <a:t>데이터베이스 테이블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840479"/>
            <a:ext cx="3291840" cy="1691639"/>
          </a:xfrm>
          <a:prstGeom prst="roundRect">
            <a:avLst>
              <a:gd name="adj" fmla="val 10000"/>
            </a:avLst>
          </a:prstGeom>
          <a:solidFill>
            <a:srgbClr val="151D31"/>
          </a:solidFill>
          <a:ln w="9525">
            <a:solidFill>
              <a:srgbClr val="273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133087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lang="ko-KR">
                <a:solidFill>
                  <a:srgbClr val="FFFFFF"/>
                </a:solidFill>
                <a:latin typeface="맑은 고딕"/>
                <a:ea typeface="맑은 고딕"/>
              </a:rPr>
              <a:t>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92039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lang="ko-KR">
                <a:solidFill>
                  <a:srgbClr val="B9C2D6"/>
                </a:solidFill>
                <a:latin typeface="맑은 고딕"/>
                <a:ea typeface="맑은 고딕"/>
              </a:rPr>
              <a:t>화면 (사용자 27 · 관리자 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840479"/>
            <a:ext cx="3291840" cy="1691639"/>
          </a:xfrm>
          <a:prstGeom prst="roundRect">
            <a:avLst>
              <a:gd name="adj" fmla="val 10000"/>
            </a:avLst>
          </a:prstGeom>
          <a:solidFill>
            <a:srgbClr val="151D31"/>
          </a:solidFill>
          <a:ln w="9525">
            <a:solidFill>
              <a:srgbClr val="273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133087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lang="ko-KR">
                <a:solidFill>
                  <a:srgbClr val="FFFFFF"/>
                </a:solidFill>
                <a:latin typeface="맑은 고딕"/>
                <a:ea typeface="맑은 고딕"/>
              </a:rPr>
              <a:t>177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892039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lang="ko-KR">
                <a:solidFill>
                  <a:srgbClr val="B9C2D6"/>
                </a:solidFill>
                <a:latin typeface="맑은 고딕"/>
                <a:ea typeface="맑은 고딕"/>
              </a:rPr>
              <a:t>자동화 테스트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0" y="3840479"/>
            <a:ext cx="3291840" cy="1691639"/>
          </a:xfrm>
          <a:prstGeom prst="roundRect">
            <a:avLst>
              <a:gd name="adj" fmla="val 10000"/>
            </a:avLst>
          </a:prstGeom>
          <a:solidFill>
            <a:srgbClr val="151D31"/>
          </a:solidFill>
          <a:ln w="9525">
            <a:solidFill>
              <a:srgbClr val="273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133087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lang="ko-KR">
                <a:solidFill>
                  <a:srgbClr val="FFFFFF"/>
                </a:solidFill>
                <a:latin typeface="맑은 고딕"/>
                <a:ea typeface="맑은 고딕"/>
              </a:rPr>
              <a:t>162+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892039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lang="ko-KR">
                <a:solidFill>
                  <a:srgbClr val="B9C2D6"/>
                </a:solidFill>
                <a:latin typeface="맑은 고딕"/>
                <a:ea typeface="맑은 고딕"/>
              </a:rPr>
              <a:t>커밋 (커밋마다 상세 기록)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lang="ko-KR">
                <a:solidFill>
                  <a:srgbClr val="8B96B5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lang="ko-KR">
                <a:solidFill>
                  <a:srgbClr val="8B96B5"/>
                </a:solidFill>
                <a:latin typeface="맑은 고딕"/>
                <a:ea typeface="맑은 고딕"/>
              </a:rPr>
              <a:t>VidShare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lang="ko-KR">
                <a:solidFill>
                  <a:srgbClr val="4F46E5"/>
                </a:solidFill>
                <a:latin typeface="맑은 고딕"/>
                <a:ea typeface="맑은 고딕"/>
              </a:rPr>
              <a:t>07 · 회고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lang="ko-KR">
                <a:solidFill>
                  <a:srgbClr val="101623"/>
                </a:solidFill>
                <a:latin typeface="맑은 고딕"/>
                <a:ea typeface="맑은 고딕"/>
              </a:rPr>
              <a:t>잘한 점 &amp; 아쉬운 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lang="ko-KR">
                <a:solidFill>
                  <a:srgbClr val="15803D"/>
                </a:solidFill>
                <a:latin typeface="맑은 고딕"/>
                <a:ea typeface="맑은 고딕"/>
              </a:rPr>
              <a:t>잘한 결정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084832"/>
            <a:ext cx="128016" cy="128016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lang="ko-KR">
                <a:solidFill>
                  <a:srgbClr val="2C3646"/>
                </a:solidFill>
                <a:latin typeface="맑은 고딕"/>
                <a:ea typeface="맑은 고딕"/>
              </a:rPr>
              <a:t>관리자 콘솔을 별도 앱으로 분리 — 권한 경계를 진지하게 설계하게 됨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953512"/>
            <a:ext cx="128016" cy="128016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88036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lang="ko-KR">
                <a:solidFill>
                  <a:srgbClr val="2C3646"/>
                </a:solidFill>
                <a:latin typeface="맑은 고딕"/>
                <a:ea typeface="맑은 고딕"/>
              </a:rPr>
              <a:t>모든 통신을 한 파일(lib/api.ts)로 모아 — 저장 방식이 바뀌어도 고칠 곳이 한 곳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822192"/>
            <a:ext cx="128016" cy="128016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4904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lang="ko-KR">
                <a:solidFill>
                  <a:srgbClr val="2C3646"/>
                </a:solidFill>
                <a:latin typeface="맑은 고딕"/>
                <a:ea typeface="맑은 고딕"/>
              </a:rPr>
              <a:t>한계를 문서에 그대로 적어 둠 — 모르는 것과 알고 미룬 것은 다르다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5544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lang="ko-KR">
                <a:solidFill>
                  <a:srgbClr val="B42318"/>
                </a:solidFill>
                <a:latin typeface="맑은 고딕"/>
                <a:ea typeface="맑은 고딕"/>
              </a:rPr>
              <a:t>아쉬운 점</a:t>
            </a:r>
          </a:p>
        </p:txBody>
      </p:sp>
      <p:sp>
        <p:nvSpPr>
          <p:cNvPr id="12" name="Oval 11"/>
          <p:cNvSpPr/>
          <p:nvPr/>
        </p:nvSpPr>
        <p:spPr>
          <a:xfrm>
            <a:off x="6309360" y="2084832"/>
            <a:ext cx="128016" cy="128016"/>
          </a:xfrm>
          <a:prstGeom prst="ellipse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lang="ko-KR">
                <a:solidFill>
                  <a:srgbClr val="2C3646"/>
                </a:solidFill>
                <a:latin typeface="맑은 고딕"/>
                <a:ea typeface="맑은 고딕"/>
              </a:rPr>
              <a:t>CI를 마지막까지 미룸 — 테스트 177건을 만들고도 자동 실행은 수동</a:t>
            </a:r>
          </a:p>
        </p:txBody>
      </p:sp>
      <p:sp>
        <p:nvSpPr>
          <p:cNvPr id="14" name="Oval 13"/>
          <p:cNvSpPr/>
          <p:nvPr/>
        </p:nvSpPr>
        <p:spPr>
          <a:xfrm>
            <a:off x="6309360" y="2953512"/>
            <a:ext cx="128016" cy="128016"/>
          </a:xfrm>
          <a:prstGeom prst="ellipse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88036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lang="ko-KR">
                <a:solidFill>
                  <a:srgbClr val="2C3646"/>
                </a:solidFill>
                <a:latin typeface="맑은 고딕"/>
                <a:ea typeface="맑은 고딕"/>
              </a:rPr>
              <a:t>일부 코드 파일이 비대해짐 — 초반에 나눴다면 지금 분할 비용이 없었을 것</a:t>
            </a:r>
          </a:p>
        </p:txBody>
      </p:sp>
      <p:sp>
        <p:nvSpPr>
          <p:cNvPr id="16" name="Oval 15"/>
          <p:cNvSpPr/>
          <p:nvPr/>
        </p:nvSpPr>
        <p:spPr>
          <a:xfrm>
            <a:off x="6309360" y="3822192"/>
            <a:ext cx="128016" cy="128016"/>
          </a:xfrm>
          <a:prstGeom prst="ellipse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74904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lang="ko-KR">
                <a:solidFill>
                  <a:srgbClr val="2C3646"/>
                </a:solidFill>
                <a:latin typeface="맑은 고딕"/>
                <a:ea typeface="맑은 고딕"/>
              </a:rPr>
              <a:t>성능·접근성을 측정한 적이 없음 — 기능이 안정된 지금이 잴 시점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lang="ko-KR">
                <a:solidFill>
                  <a:srgbClr val="5F6B7F"/>
                </a:solidFill>
                <a:latin typeface="맑은 고딕"/>
                <a:ea typeface="맑은 고딕"/>
              </a:rPr>
              <a:t>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lang="ko-KR">
                <a:solidFill>
                  <a:srgbClr val="5F6B7F"/>
                </a:solidFill>
                <a:latin typeface="맑은 고딕"/>
                <a:ea typeface="맑은 고딕"/>
              </a:rPr>
              <a:t>VidShare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lang="ko-KR">
                <a:solidFill>
                  <a:srgbClr val="4F46E5"/>
                </a:solidFill>
                <a:latin typeface="맑은 고딕"/>
                <a:ea typeface="맑은 고딕"/>
              </a:rPr>
              <a:t>07 · 다음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lang="ko-KR">
                <a:solidFill>
                  <a:srgbClr val="101623"/>
                </a:solidFill>
                <a:latin typeface="맑은 고딕"/>
                <a:ea typeface="맑은 고딕"/>
              </a:rPr>
              <a:t>앞으로의 방향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673352"/>
            <a:ext cx="2834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lang="ko-KR">
                <a:solidFill>
                  <a:srgbClr val="101623"/>
                </a:solidFill>
                <a:latin typeface="맑은 고딕"/>
                <a:ea typeface="맑은 고딕"/>
              </a:rPr>
              <a:t>백엔드 공개 배포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91640"/>
            <a:ext cx="6675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lang="ko-KR">
                <a:solidFill>
                  <a:srgbClr val="5F6B7F"/>
                </a:solidFill>
                <a:latin typeface="맑은 고딕"/>
                <a:ea typeface="맑은 고딕"/>
              </a:rPr>
              <a:t>링크 하나로 전체 기능이 동작하는 라이브 데모 완성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688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450592"/>
            <a:ext cx="2834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lang="ko-KR">
                <a:solidFill>
                  <a:srgbClr val="101623"/>
                </a:solidFill>
                <a:latin typeface="맑은 고딕"/>
                <a:ea typeface="맑은 고딕"/>
              </a:rPr>
              <a:t>CI 파이프라인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468880"/>
            <a:ext cx="6675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lang="ko-KR">
                <a:solidFill>
                  <a:srgbClr val="5F6B7F"/>
                </a:solidFill>
                <a:latin typeface="맑은 고딕"/>
                <a:ea typeface="맑은 고딕"/>
              </a:rPr>
              <a:t>PR마다 세 앱의 타입체크·린트·테스트 자동 검증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46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227832"/>
            <a:ext cx="2834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lang="ko-KR">
                <a:solidFill>
                  <a:srgbClr val="101623"/>
                </a:solidFill>
                <a:latin typeface="맑은 고딕"/>
                <a:ea typeface="맑은 고딕"/>
              </a:rPr>
              <a:t>보안 강화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46120"/>
            <a:ext cx="6675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lang="ko-KR">
                <a:solidFill>
                  <a:srgbClr val="5F6B7F"/>
                </a:solidFill>
                <a:latin typeface="맑은 고딕"/>
                <a:ea typeface="맑은 고딕"/>
              </a:rPr>
              <a:t>Rate limiting, 보안 헤더, 입력 검증 스키마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233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005072"/>
            <a:ext cx="2834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lang="ko-KR">
                <a:solidFill>
                  <a:srgbClr val="101623"/>
                </a:solidFill>
                <a:latin typeface="맑은 고딕"/>
                <a:ea typeface="맑은 고딕"/>
              </a:rPr>
              <a:t>운영 감사 로그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023360"/>
            <a:ext cx="6675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lang="ko-KR">
                <a:solidFill>
                  <a:srgbClr val="5F6B7F"/>
                </a:solidFill>
                <a:latin typeface="맑은 고딕"/>
                <a:ea typeface="맑은 고딕"/>
              </a:rPr>
              <a:t>관리자가 무엇을 했는지 추적할 수 있게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800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400" b="1" lang="ko-KR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782312"/>
            <a:ext cx="2834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lang="ko-KR">
                <a:solidFill>
                  <a:srgbClr val="101623"/>
                </a:solidFill>
                <a:latin typeface="맑은 고딕"/>
                <a:ea typeface="맑은 고딕"/>
              </a:rPr>
              <a:t>접근성 · 성능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800600"/>
            <a:ext cx="6675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lang="ko-KR">
                <a:solidFill>
                  <a:srgbClr val="5F6B7F"/>
                </a:solidFill>
                <a:latin typeface="맑은 고딕"/>
                <a:ea typeface="맑은 고딕"/>
              </a:rPr>
              <a:t>기능이 안정된 지금, 기준선을 측정하고 개선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lang="ko-KR">
                <a:solidFill>
                  <a:srgbClr val="5F6B7F"/>
                </a:solidFill>
                <a:latin typeface="맑은 고딕"/>
                <a:ea typeface="맑은 고딕"/>
              </a:rPr>
              <a:t>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lang="ko-KR">
                <a:solidFill>
                  <a:srgbClr val="5F6B7F"/>
                </a:solidFill>
                <a:latin typeface="맑은 고딕"/>
                <a:ea typeface="맑은 고딕"/>
              </a:rPr>
              <a:t>VidShare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926080" y="-3291840"/>
            <a:ext cx="8229600" cy="8229600"/>
          </a:xfrm>
          <a:prstGeom prst="ellipse">
            <a:avLst/>
          </a:prstGeom>
          <a:solidFill>
            <a:srgbClr val="7C3AED"/>
            <a:alpha val="2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2194560"/>
            <a:ext cx="6858000" cy="6858000"/>
          </a:xfrm>
          <a:prstGeom prst="ellipse">
            <a:avLst/>
          </a:prstGeom>
          <a:solidFill>
            <a:srgbClr val="3EA6FF"/>
            <a:alpha val="16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200" b="1" lang="ko-KR">
                <a:solidFill>
                  <a:srgbClr val="FFFFFF"/>
                </a:solidFill>
                <a:latin typeface="맑은 고딕"/>
                <a:ea typeface="맑은 고딕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lang="ko-KR">
                <a:solidFill>
                  <a:srgbClr val="B9C2D6"/>
                </a:solidFill>
                <a:latin typeface="맑은 고딕"/>
                <a:ea typeface="맑은 고딕"/>
              </a:rPr>
              <a:t>더 자세한 내용은 아래 소개 사이트와 문서에서 확인하실 수 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lang="ko-KR">
                <a:solidFill>
                  <a:srgbClr val="3EA6FF"/>
                </a:solidFill>
                <a:latin typeface="맑은 고딕"/>
                <a:ea typeface="맑은 고딕"/>
              </a:rPr>
              <a:t>포트폴리오 소개 사이트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4343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lang="ko-KR">
                <a:solidFill>
                  <a:srgbClr val="B9C2D6"/>
                </a:solidFill>
                <a:latin typeface="맑은 고딕"/>
                <a:ea typeface="맑은 고딕"/>
              </a:rPr>
              <a:t>portfolio/site/index.html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lang="ko-KR">
                <a:solidFill>
                  <a:srgbClr val="3EA6FF"/>
                </a:solidFill>
                <a:latin typeface="맑은 고딕"/>
                <a:ea typeface="맑은 고딕"/>
              </a:rPr>
              <a:t>사용자 사이트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48006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lang="ko-KR">
                <a:solidFill>
                  <a:srgbClr val="B9C2D6"/>
                </a:solidFill>
                <a:latin typeface="맑은 고딕"/>
                <a:ea typeface="맑은 고딕"/>
              </a:rPr>
              <a:t>vidshare-front.limjinheng0120.workers.dev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578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lang="ko-KR">
                <a:solidFill>
                  <a:srgbClr val="3EA6FF"/>
                </a:solidFill>
                <a:latin typeface="맑은 고딕"/>
                <a:ea typeface="맑은 고딕"/>
              </a:rPr>
              <a:t>관리자 콘솔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5257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lang="ko-KR">
                <a:solidFill>
                  <a:srgbClr val="B9C2D6"/>
                </a:solidFill>
                <a:latin typeface="맑은 고딕"/>
                <a:ea typeface="맑은 고딕"/>
              </a:rPr>
              <a:t>vidshare-console.limjinheng0120.workers.dev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lang="ko-KR">
                <a:solidFill>
                  <a:srgbClr val="8B96B5"/>
                </a:solidFill>
                <a:latin typeface="맑은 고딕"/>
                <a:ea typeface="맑은 고딕"/>
              </a:rPr>
              <a:t>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lang="ko-KR">
                <a:solidFill>
                  <a:srgbClr val="8B96B5"/>
                </a:solidFill>
                <a:latin typeface="맑은 고딕"/>
                <a:ea typeface="맑은 고딕"/>
              </a:rPr>
              <a:t>VidShare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