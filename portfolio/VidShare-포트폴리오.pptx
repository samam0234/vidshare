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Relationship Id="rId4" Type="http://schemas.openxmlformats.org/officeDocument/2006/relationships/image" Target="../media/image9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822960" y="685800"/>
            <a:ext cx="457200" cy="45720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685800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2000" b="1" lang="ko-KR">
                <a:solidFill>
                  <a:srgbClr val="FFFFFF"/>
                </a:solidFill>
                <a:latin typeface="맑은 고딕"/>
                <a:ea typeface="맑은 고딕"/>
              </a:rPr>
              <a:t>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417320" y="685800"/>
            <a:ext cx="2743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000" b="1" lang="ko-KR">
                <a:solidFill>
                  <a:srgbClr val="FFFFFF"/>
                </a:solidFill>
                <a:latin typeface="맑은 고딕"/>
                <a:ea typeface="맑은 고딕"/>
              </a:rPr>
              <a:t>VidShare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2331720"/>
            <a:ext cx="8229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3EA6FF"/>
                </a:solidFill>
                <a:latin typeface="맑은 고딕"/>
                <a:ea typeface="맑은 고딕"/>
              </a:rPr>
              <a:t>풀스택 개인 프로젝트 · 2026.08 – 2026.10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2788920"/>
            <a:ext cx="1060704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영상을 올리고, 함께 보고,</a:t>
            </a:r>
          </a:p>
          <a:p>
            <a:pPr algn="l">
              <a:lnSpc>
                <a:spcPct val="112000"/>
              </a:lnSpc>
            </a:pPr>
            <a:r>
              <a:rPr sz="46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하는 플랫폼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4343400"/>
            <a:ext cx="877824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550" b="0" lang="ko-KR">
                <a:solidFill>
                  <a:srgbClr val="B9C2D6"/>
                </a:solidFill>
                <a:latin typeface="맑은 고딕"/>
                <a:ea typeface="맑은 고딕"/>
              </a:rPr>
              <a:t>숏폼 · 롱폼 · 커뮤니티 · 실시간 메시지 · AI 챗봇을 한 서비스에 담고,</a:t>
            </a:r>
          </a:p>
          <a:p>
            <a:pPr algn="l">
              <a:lnSpc>
                <a:spcPct val="150000"/>
              </a:lnSpc>
            </a:pPr>
            <a:r>
              <a:rPr sz="1550" b="0" lang="ko-KR">
                <a:solidFill>
                  <a:srgbClr val="B9C2D6"/>
                </a:solidFill>
                <a:latin typeface="맑은 고딕"/>
                <a:ea typeface="맑은 고딕"/>
              </a:rPr>
              <a:t>신고 처리와 계정 관리를 위한 관리자 콘솔까지 별도 앱으로 만들었습니다.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875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875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애플리케이션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803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0449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449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REST API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9377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1023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1023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DB 테이블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9951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597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188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1597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테스트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9052560" y="5623560"/>
            <a:ext cx="1920240" cy="868680"/>
          </a:xfrm>
          <a:prstGeom prst="roundRect">
            <a:avLst>
              <a:gd name="adj" fmla="val 12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217152" y="5733288"/>
            <a:ext cx="16916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FFFFFF"/>
                </a:solidFill>
                <a:latin typeface="맑은 고딕"/>
                <a:ea typeface="맑은 고딕"/>
              </a:rPr>
              <a:t>177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217152" y="6172200"/>
            <a:ext cx="169164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050" b="1" lang="ko-KR">
                <a:solidFill>
                  <a:srgbClr val="8B96B5"/>
                </a:solidFill>
                <a:latin typeface="맑은 고딕"/>
                <a:ea typeface="맑은 고딕"/>
              </a:rPr>
              <a:t>커밋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CONTENTS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9144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800" b="1" lang="ko-KR">
                <a:solidFill>
                  <a:srgbClr val="101623"/>
                </a:solidFill>
                <a:latin typeface="맑은 고딕"/>
                <a:ea typeface="맑은 고딕"/>
              </a:rPr>
              <a:t>무엇을 만들었는지 소개합니다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1560" y="178308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874519" y="178308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프로젝트 소개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0" y="1783080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무엇이고, 왜 만들었는가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22960" y="2404872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240487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40487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핵심 기능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0" y="2404872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쇼츠부터 AI 챗봇까지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2960" y="3026664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51560" y="3026664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3026664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사용자 화면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0" y="3026664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실제 서비스 화면 둘러보기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3648456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51560" y="3648456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3648456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0" y="3648456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3가지 모델, 대화 저장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822960" y="4270248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51560" y="4270248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4270248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0" y="4270248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신고·유저·콘텐츠 운영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4892040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51560" y="4892040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4892040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기술 스택 &amp; 규모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0" y="4892040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무엇으로, 얼마나, 어디에서 운영하나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822960" y="5513832"/>
            <a:ext cx="10515600" cy="548640"/>
          </a:xfrm>
          <a:prstGeom prst="roundRect">
            <a:avLst>
              <a:gd name="adj" fmla="val 16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51560" y="5513832"/>
            <a:ext cx="8229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 lang="ko-KR">
                <a:solidFill>
                  <a:srgbClr val="4F46E5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874519" y="5513832"/>
            <a:ext cx="329184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50" b="1" lang="ko-KR">
                <a:solidFill>
                  <a:srgbClr val="101623"/>
                </a:solidFill>
                <a:latin typeface="맑은 고딕"/>
                <a:ea typeface="맑은 고딕"/>
              </a:rPr>
              <a:t>회고 &amp; 다음 계획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5513832"/>
            <a:ext cx="5852160" cy="54864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잘한 점과 앞으로의 방향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PROJECT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넣으니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설계할 것이 달라졌다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01 ·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왜 이 서비스를 만들었나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08760"/>
            <a:ext cx="987552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550" b="0" lang="ko-KR">
                <a:solidFill>
                  <a:srgbClr val="2C3646"/>
                </a:solidFill>
                <a:latin typeface="맑은 고딕"/>
                <a:ea typeface="맑은 고딕"/>
              </a:rPr>
              <a:t>영상 플레이어 하나를 만드는 과제로는 배울 것이 금방 끝납니다. 그래서 콘텐츠 소비 → 창작 → 소통 → 운영까지, 서비스가 실제로 도는 한 사이클을 전부 통과해 보기로 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788920"/>
            <a:ext cx="10515600" cy="1143000"/>
          </a:xfrm>
          <a:prstGeom prst="roundRect">
            <a:avLst>
              <a:gd name="adj" fmla="val 8000"/>
            </a:avLst>
          </a:prstGeom>
          <a:solidFill>
            <a:srgbClr val="F0E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999232"/>
            <a:ext cx="1005840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450" b="1" lang="ko-KR">
                <a:solidFill>
                  <a:srgbClr val="2C3646"/>
                </a:solidFill>
                <a:latin typeface="맑은 고딕"/>
                <a:ea typeface="맑은 고딕"/>
              </a:rPr>
              <a:t>운영을 범위에 넣은 것이 이 프로젝트의 성격을 결정했습니다.  </a:t>
            </a:r>
            <a:r>
              <a:rPr sz="1450" b="0" lang="ko-KR">
                <a:solidFill>
                  <a:srgbClr val="2C3646"/>
                </a:solidFill>
                <a:latin typeface="맑은 고딕"/>
                <a:ea typeface="맑은 고딕"/>
              </a:rPr>
              <a:t>신고가 들어오면 누가 보고 무엇을 근거로 지우는지, 정지된 계정은 어떻게 되는지 — 이런 질문은 사용자 화면만 만들어서는 마주칠 일이 없습니다.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102412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2412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소비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2412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쇼츠·롱폼 피드로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영상을 본다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2900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363016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63016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창작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63016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직접 올리고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커뮤니티에 공유한다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03504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623620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23620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소통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23620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댓글·메시지·알림으로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서로 이어진다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641080" y="4343400"/>
            <a:ext cx="2468880" cy="169164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842248" y="4544568"/>
            <a:ext cx="384048" cy="384048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300" b="1" lang="ko-KR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842248" y="5029200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운영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842248" y="5413248"/>
            <a:ext cx="214884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신고·정지·삭제로</a:t>
            </a:r>
          </a:p>
          <a:p>
            <a:pPr algn="l">
              <a:lnSpc>
                <a:spcPct val="135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서비스를 관리한다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01 · 프로젝트 소개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세 개의 애플리케이션으로 구성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ko-KR">
                <a:solidFill>
                  <a:srgbClr val="5F6B7F"/>
                </a:solidFill>
                <a:latin typeface="맑은 고딕"/>
                <a:ea typeface="맑은 고딕"/>
              </a:rPr>
              <a:t>사용자 웹앱과 관리자 콘솔을 별도 앱으로 분리하고, 하나의 API 서버가 둘을 함께 지원합니다.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사용자 웹앱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FrontServer · :3000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숏폼·롱폼·커뮤니티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메시지·알림·챗봇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61772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61772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87375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87375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Console · :3200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7375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신고·유저·콘텐츠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고객센터·대시보드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412480" y="2331720"/>
            <a:ext cx="2926080" cy="22860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412480" y="2331720"/>
            <a:ext cx="2926080" cy="109728"/>
          </a:xfrm>
          <a:prstGeom prst="roundRect">
            <a:avLst>
              <a:gd name="adj" fmla="val 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668512" y="2624328"/>
            <a:ext cx="246888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API 서버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68512" y="3044952"/>
            <a:ext cx="24688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BackendServer · :4000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68512" y="3502152"/>
            <a:ext cx="246888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REST API·PostgreSQL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실시간(SSE·WS)</a:t>
            </a:r>
          </a:p>
        </p:txBody>
      </p:sp>
      <p:cxnSp>
        <p:nvCxnSpPr>
          <p:cNvPr id="20" name="Connector 19"/>
          <p:cNvCxnSpPr/>
          <p:nvPr/>
        </p:nvCxnSpPr>
        <p:spPr>
          <a:xfrm>
            <a:off x="2286000" y="4617720"/>
            <a:ext cx="7589520" cy="502920"/>
          </a:xfrm>
          <a:prstGeom prst="line">
            <a:avLst/>
          </a:prstGeom>
          <a:ln w="15875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6080760" y="4617720"/>
            <a:ext cx="3794760" cy="502920"/>
          </a:xfrm>
          <a:prstGeom prst="line">
            <a:avLst/>
          </a:prstGeom>
          <a:ln w="15875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TextBox 21"/>
          <p:cNvSpPr txBox="1"/>
          <p:nvPr/>
        </p:nvSpPr>
        <p:spPr>
          <a:xfrm>
            <a:off x="822960" y="51663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포인트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두 프론트가 같은 백엔드를 보지만, 세션 쿠키 이름을 달리해 동시에 로그인해도 서로 영향이 없습니다.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02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FEATURES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쇼츠부터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AI 챗봇까지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여덟 가지 영역을 한 서비스 안에 담았습니다.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02 · 핵심 기능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기능 한눈에 보기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102412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2412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▶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2412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쇼츠 · 롱폼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2412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세로 스냅 피드, 좋아요·댓글, 실파일 업로드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52044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372160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372160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372160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커뮤니티 · 소셜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72160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게시글 공유, 팔로우, 팔로잉 피드, 통합 검색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6419088" y="1801368"/>
            <a:ext cx="457200" cy="457200"/>
          </a:xfrm>
          <a:prstGeom prst="ellipse">
            <a:avLst/>
          </a:prstGeom>
          <a:solidFill>
            <a:srgbClr val="4F46E5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1908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⚡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1908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실시간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1908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SSE 알림, WebSocket 메시지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15400" y="160020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9116568" y="1801368"/>
            <a:ext cx="457200" cy="457200"/>
          </a:xfrm>
          <a:prstGeom prst="ellipse">
            <a:avLst/>
          </a:prstGeom>
          <a:solidFill>
            <a:srgbClr val="7C3AED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16568" y="180136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9116568" y="240487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116568" y="277063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3가지 모델 티어, 대화 저장, 파일 첨부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2296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Oval 24"/>
          <p:cNvSpPr/>
          <p:nvPr/>
        </p:nvSpPr>
        <p:spPr>
          <a:xfrm>
            <a:off x="1024128" y="3904488"/>
            <a:ext cx="457200" cy="457200"/>
          </a:xfrm>
          <a:prstGeom prst="ellipse">
            <a:avLst/>
          </a:prstGeom>
          <a:solidFill>
            <a:srgbClr val="B45309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2412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🛡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모더레이션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02412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신고·차단, 피드 자동 필터링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52044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3721608" y="3904488"/>
            <a:ext cx="457200" cy="457200"/>
          </a:xfrm>
          <a:prstGeom prst="ellipse">
            <a:avLst/>
          </a:prstGeom>
          <a:solidFill>
            <a:srgbClr val="B45309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72160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⚙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72160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운영 콘솔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372160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신고 처리·계정 정지·문의 답변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21792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Oval 34"/>
          <p:cNvSpPr/>
          <p:nvPr/>
        </p:nvSpPr>
        <p:spPr>
          <a:xfrm>
            <a:off x="6419088" y="3904488"/>
            <a:ext cx="457200" cy="457200"/>
          </a:xfrm>
          <a:prstGeom prst="ellipse">
            <a:avLst/>
          </a:prstGeom>
          <a:solidFill>
            <a:srgbClr val="14B8A6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1908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🔐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1908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인증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1908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이메일 없이 가입, 세션 기반 로그인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915400" y="3703320"/>
            <a:ext cx="2514600" cy="1828800"/>
          </a:xfrm>
          <a:prstGeom prst="roundRect">
            <a:avLst>
              <a:gd name="adj" fmla="val 10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Oval 39"/>
          <p:cNvSpPr/>
          <p:nvPr/>
        </p:nvSpPr>
        <p:spPr>
          <a:xfrm>
            <a:off x="9116568" y="3904488"/>
            <a:ext cx="457200" cy="457200"/>
          </a:xfrm>
          <a:prstGeom prst="ellipse">
            <a:avLst/>
          </a:prstGeom>
          <a:solidFill>
            <a:srgbClr val="14B8A6"/>
            <a:alpha val="14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9116568" y="3904488"/>
            <a:ext cx="457200" cy="45720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20000"/>
              </a:lnSpc>
            </a:pPr>
            <a:r>
              <a:rPr sz="1700" b="0" lang="ko-KR">
                <a:solidFill>
                  <a:srgbClr val="101623"/>
                </a:solidFill>
                <a:latin typeface="맑은 고딕"/>
                <a:ea typeface="맑은 고딕"/>
              </a:rPr>
              <a:t>📄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16568" y="4507992"/>
            <a:ext cx="214884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법적 페이지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116568" y="4873752"/>
            <a:ext cx="214884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이용약관·개인정보처리방침·사업자 정보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SCREENS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실제 서비스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화면입니다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목업이 아니라 실행 중인 앱을 그대로 캡처했습니다.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08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쇼츠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세로로 넘겨보는 쇼츠 피드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짧은 영상을 세로 스냅으로 빠르게 넘기며 봅니다. 좋아요·싫어요, 댓글, 공유가 화면 안에서 바로 이루어지고 비회원도 로그인 없이 열람할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세로 스냅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좋아요·댓글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391156" y="3566160"/>
            <a:ext cx="101041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비회원 열람 가능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577399" y="640080"/>
            <a:ext cx="2767442" cy="5760720"/>
          </a:xfrm>
          <a:prstGeom prst="roundRect">
            <a:avLst>
              <a:gd name="adj" fmla="val 9000"/>
            </a:avLst>
          </a:prstGeom>
          <a:solidFill>
            <a:srgbClr val="0D1220"/>
          </a:solidFill>
          <a:ln>
            <a:noFill/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9" name="Picture 8" descr="front-feed-mob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659695" y="722376"/>
            <a:ext cx="2602850" cy="55961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09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커뮤니티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영상을 이야기로 잇는 커뮤니티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올린 영상을 커뮤니티 글로 공유해 같이 보고 이야기할 수 있습니다. 글마다 일련번호가 붙어 상세 페이지에서 확인할 수 있고, 댓글과 대댓글로 대화가 이어집니다.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게시글 공유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655064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댓글·대댓글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487168" y="3566160"/>
            <a:ext cx="53035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일련번호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communit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10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검색·프로필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통합 검색과 프로필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쇼츠·롱폼·커뮤니티·유저 네 영역을 한 번에 검색합니다. 프로필에서는 올린 영상, 팔로워·팔로잉, 재생목록을 탭으로 나눠 볼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통합 검색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3566160"/>
            <a:ext cx="434340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팔로우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103120" y="3566160"/>
            <a:ext cx="53035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재생목록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search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11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03 · 사용자 화면 — 실시간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실시간 메시지와 알림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1:1 메시지는 WebSocket으로 실시간 송수신됩니다. 알림은 SSE로 즉시 도착하며, 읽음 처리와 전체 삭제도 확인 절차를 거쳐 안전하게 이루어집니다.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566160"/>
            <a:ext cx="1010412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WebSocket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943100" y="356616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SSE 알림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5204" y="3566160"/>
            <a:ext cx="434340" cy="329184"/>
          </a:xfrm>
          <a:prstGeom prst="roundRect">
            <a:avLst>
              <a:gd name="adj" fmla="val 50000"/>
            </a:avLst>
          </a:prstGeom>
          <a:solidFill>
            <a:srgbClr val="ECEF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2C3646"/>
                </a:solidFill>
                <a:latin typeface="맑은 고딕"/>
                <a:ea typeface="맑은 고딕"/>
              </a:rPr>
              <a:t>실시간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2" name="Picture 11" descr="front-message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04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AI CHATBOT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대화를 나누는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AI 챗봇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세 가지 모델 티어로 나눠 구성했습니다.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7C3AED"/>
                </a:solidFill>
                <a:latin typeface="맑은 고딕"/>
                <a:ea typeface="맑은 고딕"/>
              </a:rPr>
              <a:t>04 · AI 챗봇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3가지 모델, 저장되는 대화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1554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누구나 쓸 수 있는 무료 모델부터, 로그인한 회원을 위한 대화 요약·저장 모델까지 세 단계로 나눴습니다.</a:t>
            </a:r>
          </a:p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60000"/>
              </a:lnSpc>
            </a:pPr>
            <a:r>
              <a:rPr sz="1400" b="0" lang="ko-KR">
                <a:solidFill>
                  <a:srgbClr val="2C3646"/>
                </a:solidFill>
                <a:latin typeface="맑은 고딕"/>
                <a:ea typeface="맑은 고딕"/>
              </a:rPr>
              <a:t>이미지·PDF·문서 파일을 첨부해 질문할 수 있고, 답변은 굵게·목록 등 마크다운으로 보기 좋게 표시됩니다.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32461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960120" y="3392424"/>
            <a:ext cx="274320" cy="274320"/>
          </a:xfrm>
          <a:prstGeom prst="ellipse">
            <a:avLst/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417320" y="32461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Locals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743200" y="32461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무료 · 비회원 가능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822960" y="39319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960120" y="4078224"/>
            <a:ext cx="274320" cy="274320"/>
          </a:xfrm>
          <a:prstGeom prst="ellipse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1417320" y="39319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Vide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743200" y="39319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회원 전용 · 대화 요약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617720"/>
            <a:ext cx="4572000" cy="566928"/>
          </a:xfrm>
          <a:prstGeom prst="roundRect">
            <a:avLst>
              <a:gd name="adj" fmla="val 2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960120" y="4764024"/>
            <a:ext cx="274320" cy="274320"/>
          </a:xfrm>
          <a:prstGeom prst="ellipse">
            <a:avLst/>
          </a:prstGeom>
          <a:solidFill>
            <a:srgbClr val="3EA6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1417320" y="4617720"/>
            <a:ext cx="11887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50" b="1" lang="ko-KR">
                <a:solidFill>
                  <a:srgbClr val="101623"/>
                </a:solidFill>
                <a:latin typeface="맑은 고딕"/>
                <a:ea typeface="맑은 고딕"/>
              </a:rPr>
              <a:t>Shape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743200" y="4617720"/>
            <a:ext cx="2560320" cy="56692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회원 전용 · 대화 기억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1" name="Picture 20" descr="front-chatb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ADMIN CONSOLE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운영까지 갖춘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4709160"/>
            <a:ext cx="9875520" cy="9144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600" b="0" lang="ko-KR">
                <a:solidFill>
                  <a:srgbClr val="B9C2D6"/>
                </a:solidFill>
                <a:latin typeface="맑은 고딕"/>
                <a:ea typeface="맑은 고딕"/>
              </a:rPr>
              <a:t>신고 처리부터 계정 정지까지, 별도 앱으로 만들었습니다.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15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B45309"/>
                </a:solidFill>
                <a:latin typeface="맑은 고딕"/>
                <a:ea typeface="맑은 고딕"/>
              </a:rPr>
              <a:t>05 · 관리자 콘솔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484632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운영 대시보드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4572000" cy="23774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미처리 신고, 미답변 문의, 정지 계정 수를 한눈에 보여줍니다. "처리해야 할 일이 남아 있는지"가 운영자에게 가장 먼저 필요한 정보이기 때문입니다.</a:t>
            </a:r>
          </a:p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/>
            </a:r>
          </a:p>
          <a:p>
            <a:pPr algn="l">
              <a:lnSpc>
                <a:spcPct val="155000"/>
              </a:lnSpc>
            </a:pP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사용자 웹앱과는 세션 쿠키 이름부터 다른 별도 애플리케이션으로 만들어, 같은 브라우저에서 두 화면을 동시에 열어 두고 확인할 수 있습니다.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5532120"/>
            <a:ext cx="626364" cy="329184"/>
          </a:xfrm>
          <a:prstGeom prst="roundRect">
            <a:avLst>
              <a:gd name="adj" fmla="val 50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B45309"/>
                </a:solidFill>
                <a:latin typeface="맑은 고딕"/>
                <a:ea typeface="맑은 고딕"/>
              </a:rPr>
              <a:t>별도 세션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1559052" y="5532120"/>
            <a:ext cx="722376" cy="329184"/>
          </a:xfrm>
          <a:prstGeom prst="roundRect">
            <a:avLst>
              <a:gd name="adj" fmla="val 50000"/>
            </a:avLst>
          </a:prstGeom>
          <a:solidFill>
            <a:srgbClr val="FDF4E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150" b="1" lang="ko-KR">
                <a:solidFill>
                  <a:srgbClr val="B45309"/>
                </a:solidFill>
                <a:latin typeface="맑은 고딕"/>
                <a:ea typeface="맑은 고딕"/>
              </a:rPr>
              <a:t>실시간 지표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0" y="1573911"/>
            <a:ext cx="5760720" cy="38930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Oval 7"/>
          <p:cNvSpPr/>
          <p:nvPr/>
        </p:nvSpPr>
        <p:spPr>
          <a:xfrm>
            <a:off x="5797296" y="168363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5943600" y="168363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6089904" y="168363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1" name="Picture 10" descr="console-dashboar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69280" y="1866519"/>
            <a:ext cx="5760720" cy="360045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B45309"/>
                </a:solidFill>
                <a:latin typeface="맑은 고딕"/>
                <a:ea typeface="맑은 고딕"/>
              </a:rPr>
              <a:t>05 · 관리자 콘솔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13232"/>
            <a:ext cx="10058400" cy="594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101623"/>
                </a:solidFill>
                <a:latin typeface="맑은 고딕"/>
                <a:ea typeface="맑은 고딕"/>
              </a:rPr>
              <a:t>신고 처리부터 문의 답변까지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95097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109728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124358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console-report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2197989"/>
            <a:ext cx="3383280" cy="2114550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82296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신고 관리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상태별 조회, 조치함/반려 처리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4340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447141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461772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476402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15" name="Picture 14" descr="console-user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343400" y="2197989"/>
            <a:ext cx="3383280" cy="211455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434340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유저 관리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34340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계정 검색, 정지·해제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863840" y="1905381"/>
            <a:ext cx="3383280" cy="240715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FE4EE"/>
            </a:solidFill>
          </a:ln>
          <a:effectLst>
            <a:outerShdw blurRad="90000" dist="30000" dir="5400000" rotWithShape="0">
              <a:srgbClr val="10162E">
                <a:alpha val="22000"/>
              </a:srgbClr>
            </a:outerShdw>
          </a:effectLst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991856" y="2015109"/>
            <a:ext cx="82296" cy="82296"/>
          </a:xfrm>
          <a:prstGeom prst="ellipse">
            <a:avLst/>
          </a:prstGeom>
          <a:solidFill>
            <a:srgbClr val="FF5F5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Oval 19"/>
          <p:cNvSpPr/>
          <p:nvPr/>
        </p:nvSpPr>
        <p:spPr>
          <a:xfrm>
            <a:off x="8138160" y="2015109"/>
            <a:ext cx="82296" cy="82296"/>
          </a:xfrm>
          <a:prstGeom prst="ellipse">
            <a:avLst/>
          </a:prstGeom>
          <a:solidFill>
            <a:srgbClr val="FEBC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8284464" y="2015109"/>
            <a:ext cx="82296" cy="82296"/>
          </a:xfrm>
          <a:prstGeom prst="ellipse">
            <a:avLst/>
          </a:prstGeom>
          <a:solidFill>
            <a:srgbClr val="28C8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22" name="Picture 21" descr="console-content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863840" y="2197989"/>
            <a:ext cx="3383280" cy="2114550"/>
          </a:xfrm>
          <a:prstGeom prst="rect">
            <a:avLst/>
          </a:prstGeom>
        </p:spPr>
      </p:pic>
      <p:sp>
        <p:nvSpPr>
          <p:cNvPr id="23" name="TextBox 22"/>
          <p:cNvSpPr txBox="1"/>
          <p:nvPr/>
        </p:nvSpPr>
        <p:spPr>
          <a:xfrm>
            <a:off x="7863840" y="4892040"/>
            <a:ext cx="3383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50" b="1" lang="ko-KR">
                <a:solidFill>
                  <a:srgbClr val="101623"/>
                </a:solidFill>
                <a:latin typeface="맑은 고딕"/>
                <a:ea typeface="맑은 고딕"/>
              </a:rPr>
              <a:t>콘텐츠 관리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863840" y="5285232"/>
            <a:ext cx="33832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150" b="0" lang="ko-KR">
                <a:solidFill>
                  <a:srgbClr val="5F6B7F"/>
                </a:solidFill>
                <a:latin typeface="맑은 고딕"/>
                <a:ea typeface="맑은 고딕"/>
              </a:rPr>
              <a:t>쇼츠·롱폼·커뮤니티 삭제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17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194560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200" b="1" lang="ko-KR">
                <a:solidFill>
                  <a:srgbClr val="3EA6FF"/>
                </a:solidFill>
                <a:latin typeface="맑은 고딕"/>
                <a:ea typeface="맑은 고딕"/>
              </a:rPr>
              <a:t>06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5176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9C2D6"/>
                </a:solidFill>
                <a:latin typeface="맑은 고딕"/>
                <a:ea typeface="맑은 고딕"/>
              </a:rPr>
              <a:t>TECH &amp; SCALE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063240"/>
            <a:ext cx="10515600" cy="1600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무엇으로,</a:t>
            </a:r>
          </a:p>
          <a:p>
            <a:pPr algn="l">
              <a:lnSpc>
                <a:spcPct val="115000"/>
              </a:lnSpc>
            </a:pPr>
            <a:r>
              <a:rPr sz="4000" b="1" lang="ko-KR">
                <a:solidFill>
                  <a:srgbClr val="FFFFFF"/>
                </a:solidFill>
                <a:latin typeface="맑은 고딕"/>
                <a:ea typeface="맑은 고딕"/>
              </a:rPr>
              <a:t>얼마나 만들었나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18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06 · 기술 스택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사용한 기술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71907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프론트엔드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2651760" y="169164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Next.js 16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867912" y="1691640"/>
            <a:ext cx="91440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React 19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92040" y="169164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TypeScript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108192" y="1691640"/>
            <a:ext cx="158648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Tailwind CSS v4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804404" y="169164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TanStack Query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249631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백엔드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651760" y="2468880"/>
            <a:ext cx="81838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Node.js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579876" y="2468880"/>
            <a:ext cx="81838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Express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507992" y="2468880"/>
            <a:ext cx="1106424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PostgreSQL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724144" y="246888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WebSocket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844284" y="2468880"/>
            <a:ext cx="43434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SSE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2960" y="327355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AI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2651760" y="324612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LangChain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771900" y="3246120"/>
            <a:ext cx="101041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LangGraph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892040" y="3246120"/>
            <a:ext cx="1394460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Google Gemini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396228" y="3246120"/>
            <a:ext cx="53035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Groq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050792"/>
            <a:ext cx="18288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 lang="ko-KR">
                <a:solidFill>
                  <a:srgbClr val="101623"/>
                </a:solidFill>
                <a:latin typeface="맑은 고딕"/>
                <a:ea typeface="맑은 고딕"/>
              </a:rPr>
              <a:t>배포·운영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2651760" y="4023360"/>
            <a:ext cx="1874519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Cloudflare Workers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4636007" y="4023360"/>
            <a:ext cx="1298448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Oracle Cloud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044183" y="4023360"/>
            <a:ext cx="1490472" cy="384048"/>
          </a:xfrm>
          <a:prstGeom prst="roundRect">
            <a:avLst>
              <a:gd name="adj" fmla="val 50000"/>
            </a:avLst>
          </a:prstGeom>
          <a:solidFill>
            <a:srgbClr val="F6F7F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200" b="1" lang="ko-KR">
                <a:solidFill>
                  <a:srgbClr val="2C3646"/>
                </a:solidFill>
                <a:latin typeface="맑은 고딕"/>
                <a:ea typeface="맑은 고딕"/>
              </a:rPr>
              <a:t>GitHub Actions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5257800"/>
            <a:ext cx="1051560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5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왜 이렇게 골랐나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모두가 아는 인기 기술을 그대로 쓰기보다, 이 규모(개인 프로젝트, 3개 앱)에 맞는 것을 택했습니다. 예를 들어 처음엔 설치가 필요 없는 SQLite 로 시작했고, 실제 서버에 올리기로 하면서 백업과 이력 관리가 되는 PostgreSQL 로 옮겼습니다.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19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06 · 프로젝트 규모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FFFFFF"/>
                </a:solidFill>
                <a:latin typeface="맑은 고딕"/>
                <a:ea typeface="맑은 고딕"/>
              </a:rPr>
              <a:t>숫자로 보는 VidShare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9728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16,100+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9728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줄의 TypeScript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8912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466344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82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66344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REST API 엔드포인트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955280" y="1783080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0" y="2075688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600" y="2834640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데이터베이스 테이블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9728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33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9728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화면 (사용자 27 · 관리자 6)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38912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466344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188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66344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자동화 테스트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955280" y="3840479"/>
            <a:ext cx="3291840" cy="1691639"/>
          </a:xfrm>
          <a:prstGeom prst="roundRect">
            <a:avLst>
              <a:gd name="adj" fmla="val 10000"/>
            </a:avLst>
          </a:prstGeom>
          <a:solidFill>
            <a:srgbClr val="151D31"/>
          </a:solidFill>
          <a:ln w="9525">
            <a:solidFill>
              <a:srgbClr val="27314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0" y="4133087"/>
            <a:ext cx="288036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3200" b="1" lang="ko-KR">
                <a:solidFill>
                  <a:srgbClr val="FFFFFF"/>
                </a:solidFill>
                <a:latin typeface="맑은 고딕"/>
                <a:ea typeface="맑은 고딕"/>
              </a:rPr>
              <a:t>177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0" y="4892039"/>
            <a:ext cx="2880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250" b="0" lang="ko-KR">
                <a:solidFill>
                  <a:srgbClr val="B9C2D6"/>
                </a:solidFill>
                <a:latin typeface="맑은 고딕"/>
                <a:ea typeface="맑은 고딕"/>
              </a:rPr>
              <a:t>커밋 (커밋마다 상세 기록)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20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06 · 운영 준비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켜 두면 계속 돌아가는 서비스로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0" lang="ko-KR">
                <a:solidFill>
                  <a:srgbClr val="5F6B7F"/>
                </a:solidFill>
                <a:latin typeface="맑은 고딕"/>
                <a:ea typeface="맑은 고딕"/>
              </a:rPr>
              <a:t>내 PC 에서만 돌던 서버를, 꺼지지 않는 클라우드 서버와 매일 백업되는 데이터베이스 위로 옮길 준비를 마쳤습니다.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822960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822960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1078992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화면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8992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Cloudflare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78992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사용자 사이트 · 관리자 콘솔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전 세계 가까운 곳에서 응답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4069080" y="3268980"/>
            <a:ext cx="384048" cy="0"/>
          </a:xfrm>
          <a:prstGeom prst="line">
            <a:avLst/>
          </a:prstGeom>
          <a:ln w="19050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4453128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453128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14B8A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709160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서버 · 데이터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709160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Oracle Cloud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709160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API 서버 + PostgreSQL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24시간 가동, 자동 HTTPS</a:t>
            </a:r>
          </a:p>
        </p:txBody>
      </p:sp>
      <p:cxnSp>
        <p:nvCxnSpPr>
          <p:cNvPr id="16" name="Connector 15"/>
          <p:cNvCxnSpPr/>
          <p:nvPr/>
        </p:nvCxnSpPr>
        <p:spPr>
          <a:xfrm>
            <a:off x="7699248" y="3268980"/>
            <a:ext cx="384048" cy="0"/>
          </a:xfrm>
          <a:prstGeom prst="line">
            <a:avLst/>
          </a:prstGeom>
          <a:ln w="19050">
            <a:solidFill>
              <a:srgbClr val="5F6B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7" name="Rounded Rectangle 16"/>
          <p:cNvSpPr/>
          <p:nvPr/>
        </p:nvSpPr>
        <p:spPr>
          <a:xfrm>
            <a:off x="8083296" y="2240280"/>
            <a:ext cx="3246120" cy="2057400"/>
          </a:xfrm>
          <a:prstGeom prst="roundRect">
            <a:avLst>
              <a:gd name="adj" fmla="val 8000"/>
            </a:avLst>
          </a:prstGeom>
          <a:solidFill>
            <a:srgbClr val="F6F7FB"/>
          </a:solidFill>
          <a:ln w="12700">
            <a:solidFill>
              <a:srgbClr val="DFE4E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8083296" y="2240280"/>
            <a:ext cx="3246120" cy="109728"/>
          </a:xfrm>
          <a:prstGeom prst="roundRect">
            <a:avLst>
              <a:gd name="adj" fmla="val 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339328" y="2532888"/>
            <a:ext cx="278892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700" b="1" lang="ko-KR">
                <a:solidFill>
                  <a:srgbClr val="101623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39328" y="2953512"/>
            <a:ext cx="27889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50" b="1" lang="ko-KR">
                <a:solidFill>
                  <a:srgbClr val="5F6B7F"/>
                </a:solidFill>
                <a:latin typeface="맑은 고딕"/>
                <a:ea typeface="맑은 고딕"/>
              </a:rPr>
              <a:t>내 PC (D 드라이브)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39328" y="3383280"/>
            <a:ext cx="2788920" cy="8229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매일 새벽 데이터 사본을</a:t>
            </a:r>
          </a:p>
          <a:p>
            <a:pPr algn="l">
              <a:lnSpc>
                <a:spcPct val="15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내려받아 보관 · 복원 확인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2296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180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60020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개의 자동 검사가 코드를 올릴 때마다 실행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43484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151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1208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건의 기존 데이터를 새 데이터베이스로 빠짐없이 이전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046720" y="4572000"/>
            <a:ext cx="82296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400" b="1" lang="ko-KR">
                <a:solidFill>
                  <a:srgbClr val="4F46E5"/>
                </a:solidFill>
                <a:latin typeface="맑은 고딕"/>
                <a:ea typeface="맑은 고딕"/>
              </a:rPr>
              <a:t>1번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823960" y="4645152"/>
            <a:ext cx="2743200" cy="685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200" b="0" lang="ko-KR">
                <a:solidFill>
                  <a:srgbClr val="2C3646"/>
                </a:solidFill>
                <a:latin typeface="맑은 고딕"/>
                <a:ea typeface="맑은 고딕"/>
              </a:rPr>
              <a:t>명령으로 백업 → 업데이트 → 상태 확인까지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22960" y="5532120"/>
            <a:ext cx="105156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0000"/>
              </a:lnSpc>
            </a:pPr>
            <a:r>
              <a:rPr sz="1350" b="1" lang="ko-KR">
                <a:solidFill>
                  <a:srgbClr val="4F46E5"/>
                </a:solidFill>
                <a:latin typeface="맑은 고딕"/>
                <a:ea typeface="맑은 고딕"/>
              </a:rPr>
              <a:t>남은 일  </a:t>
            </a:r>
            <a:r>
              <a:rPr sz="1350" b="0" lang="ko-KR">
                <a:solidFill>
                  <a:srgbClr val="2C3646"/>
                </a:solidFill>
                <a:latin typeface="맑은 고딕"/>
                <a:ea typeface="맑은 고딕"/>
              </a:rPr>
              <a:t>클라우드 서버를 만들고 도메인을 연결하면, 링크 하나로 모든 기능이 동작하는 라이브 서비스가 됩니다.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21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07 · 회고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잘한 점 &amp; 아쉬운 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5803D"/>
                </a:solidFill>
                <a:latin typeface="맑은 고딕"/>
                <a:ea typeface="맑은 고딕"/>
              </a:rPr>
              <a:t>잘한 결정</a:t>
            </a:r>
          </a:p>
        </p:txBody>
      </p:sp>
      <p:sp>
        <p:nvSpPr>
          <p:cNvPr id="5" name="Oval 4"/>
          <p:cNvSpPr/>
          <p:nvPr/>
        </p:nvSpPr>
        <p:spPr>
          <a:xfrm>
            <a:off x="822960" y="208483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97280" y="201168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관리자 콘솔을 별도 앱으로 분리 — 권한 경계를 진지하게 설계하게 됨</a:t>
            </a:r>
          </a:p>
        </p:txBody>
      </p:sp>
      <p:sp>
        <p:nvSpPr>
          <p:cNvPr id="7" name="Oval 6"/>
          <p:cNvSpPr/>
          <p:nvPr/>
        </p:nvSpPr>
        <p:spPr>
          <a:xfrm>
            <a:off x="822960" y="295351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97280" y="288036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모든 통신을 한 파일(lib/api.ts)로 모아 — 저장 방식이 바뀌어도 고칠 곳이 한 곳</a:t>
            </a:r>
          </a:p>
        </p:txBody>
      </p:sp>
      <p:sp>
        <p:nvSpPr>
          <p:cNvPr id="9" name="Oval 8"/>
          <p:cNvSpPr/>
          <p:nvPr/>
        </p:nvSpPr>
        <p:spPr>
          <a:xfrm>
            <a:off x="822960" y="3822192"/>
            <a:ext cx="128016" cy="128016"/>
          </a:xfrm>
          <a:prstGeom prst="ellipse">
            <a:avLst/>
          </a:prstGeom>
          <a:solidFill>
            <a:srgbClr val="1580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97280" y="3749040"/>
            <a:ext cx="448056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한계를 문서에 그대로 적어 둠 — 모르는 것과 알고 미룬 것은 다르다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09360" y="1554480"/>
            <a:ext cx="484632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B42318"/>
                </a:solidFill>
                <a:latin typeface="맑은 고딕"/>
                <a:ea typeface="맑은 고딕"/>
              </a:rPr>
              <a:t>아쉬운 점</a:t>
            </a:r>
          </a:p>
        </p:txBody>
      </p:sp>
      <p:sp>
        <p:nvSpPr>
          <p:cNvPr id="12" name="Oval 11"/>
          <p:cNvSpPr/>
          <p:nvPr/>
        </p:nvSpPr>
        <p:spPr>
          <a:xfrm>
            <a:off x="6309360" y="208483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0" y="201168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자동 검사를 늦게 깖 — 테스트를 170건 넘게 만들고도 한동안 손으로 실행</a:t>
            </a:r>
          </a:p>
        </p:txBody>
      </p:sp>
      <p:sp>
        <p:nvSpPr>
          <p:cNvPr id="14" name="Oval 13"/>
          <p:cNvSpPr/>
          <p:nvPr/>
        </p:nvSpPr>
        <p:spPr>
          <a:xfrm>
            <a:off x="6309360" y="295351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0" y="288036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일부 코드 파일이 비대해짐 — 초반에 나눴다면 지금 분할 비용이 없었을 것</a:t>
            </a:r>
          </a:p>
        </p:txBody>
      </p:sp>
      <p:sp>
        <p:nvSpPr>
          <p:cNvPr id="16" name="Oval 15"/>
          <p:cNvSpPr/>
          <p:nvPr/>
        </p:nvSpPr>
        <p:spPr>
          <a:xfrm>
            <a:off x="6309360" y="3822192"/>
            <a:ext cx="128016" cy="128016"/>
          </a:xfrm>
          <a:prstGeom prst="ellipse">
            <a:avLst/>
          </a:prstGeom>
          <a:solidFill>
            <a:srgbClr val="B4231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0" y="3749040"/>
            <a:ext cx="45720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40000"/>
              </a:lnSpc>
            </a:pPr>
            <a:r>
              <a:rPr sz="1250" b="0" lang="ko-KR">
                <a:solidFill>
                  <a:srgbClr val="2C3646"/>
                </a:solidFill>
                <a:latin typeface="맑은 고딕"/>
                <a:ea typeface="맑은 고딕"/>
              </a:rPr>
              <a:t>성능·접근성을 측정한 적이 없음 — 기능이 안정된 지금이 잴 시점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22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822960" y="45720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4F46E5"/>
                </a:solidFill>
                <a:latin typeface="맑은 고딕"/>
                <a:ea typeface="맑은 고딕"/>
              </a:rPr>
              <a:t>07 · 다음 계획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777240"/>
            <a:ext cx="100584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2600" b="1" lang="ko-KR">
                <a:solidFill>
                  <a:srgbClr val="101623"/>
                </a:solidFill>
                <a:latin typeface="맑은 고딕"/>
                <a:ea typeface="맑은 고딕"/>
              </a:rPr>
              <a:t>앞으로의 방향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822960" y="169164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508760" y="167335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라이브 서비스 공개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572000" y="169164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클라우드 서버·도메인 연결 — 배포 준비는 끝남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246888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508760" y="245059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보안 강화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72000" y="246888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Rate limiting, 보안 헤더, 입력 검증 스키마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22960" y="324612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508760" y="322783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운영 감사 로그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72000" y="324612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관리자가 무엇을 했는지 추적할 수 있게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22960" y="402336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08760" y="400507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접근성 · 성능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572000" y="402336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기능이 안정된 지금, 기준선을 측정하고 개선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2960" y="4800600"/>
            <a:ext cx="457200" cy="457200"/>
          </a:xfrm>
          <a:prstGeom prst="roundRect">
            <a:avLst>
              <a:gd name="adj" fmla="val 50000"/>
            </a:avLst>
          </a:prstGeom>
          <a:solidFill>
            <a:srgbClr val="4F46E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25400" rIns="25400"/>
          <a:lstStyle/>
          <a:p>
            <a:pPr algn="ctr"/>
            <a:r>
              <a:rPr sz="1400" b="1" lang="ko-KR">
                <a:solidFill>
                  <a:srgbClr val="FFFFFF"/>
                </a:solidFill>
                <a:latin typeface="맑은 고딕"/>
                <a:ea typeface="맑은 고딕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08760" y="4782312"/>
            <a:ext cx="283464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1" lang="ko-KR">
                <a:solidFill>
                  <a:srgbClr val="101623"/>
                </a:solidFill>
                <a:latin typeface="맑은 고딕"/>
                <a:ea typeface="맑은 고딕"/>
              </a:rPr>
              <a:t>영상 저장소 분리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0" y="4800600"/>
            <a:ext cx="6675120" cy="5029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5F6B7F"/>
                </a:solidFill>
                <a:latin typeface="맑은 고딕"/>
                <a:ea typeface="맑은 고딕"/>
              </a:rPr>
              <a:t>업로드가 늘면 전용 저장소로 옮겨 서버 부담을 덜기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5F6B7F"/>
                </a:solidFill>
                <a:latin typeface="맑은 고딕"/>
                <a:ea typeface="맑은 고딕"/>
              </a:rPr>
              <a:t>23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5F6B7F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D122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-2926080" y="-3291840"/>
            <a:ext cx="8229600" cy="8229600"/>
          </a:xfrm>
          <a:prstGeom prst="ellipse">
            <a:avLst/>
          </a:prstGeom>
          <a:solidFill>
            <a:srgbClr val="7C3AED"/>
            <a:alpha val="22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7863840" y="-2194560"/>
            <a:ext cx="6858000" cy="6858000"/>
          </a:xfrm>
          <a:prstGeom prst="ellipse">
            <a:avLst/>
          </a:prstGeom>
          <a:solidFill>
            <a:srgbClr val="3EA6FF"/>
            <a:alpha val="160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105156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4200" b="1" lang="ko-KR">
                <a:solidFill>
                  <a:srgbClr val="FFFFFF"/>
                </a:solidFill>
                <a:latin typeface="맑은 고딕"/>
                <a:ea typeface="맑은 고딕"/>
              </a:rPr>
              <a:t>감사합니다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520440"/>
            <a:ext cx="91440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500" b="0" lang="ko-KR">
                <a:solidFill>
                  <a:srgbClr val="B9C2D6"/>
                </a:solidFill>
                <a:latin typeface="맑은 고딕"/>
                <a:ea typeface="맑은 고딕"/>
              </a:rPr>
              <a:t>더 자세한 내용은 아래 소개 사이트와 문서에서 확인하실 수 있습니다.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3434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포트폴리오 소개 사이트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840480" y="43434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portfolio/site/index.html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8006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사용자 사이트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840480" y="48006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vidshare-front.limjinheng0120.workers.dev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257800"/>
            <a:ext cx="29260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1" lang="ko-KR">
                <a:solidFill>
                  <a:srgbClr val="3EA6FF"/>
                </a:solidFill>
                <a:latin typeface="맑은 고딕"/>
                <a:ea typeface="맑은 고딕"/>
              </a:rPr>
              <a:t>관리자 콘솔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840480" y="5257800"/>
            <a:ext cx="73152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300" b="0" lang="ko-KR">
                <a:solidFill>
                  <a:srgbClr val="B9C2D6"/>
                </a:solidFill>
                <a:latin typeface="맑은 고딕"/>
                <a:ea typeface="맑은 고딕"/>
              </a:rPr>
              <a:t>vidshare-console.limjinheng0120.workers.dev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277295" y="6400800"/>
            <a:ext cx="64008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20000"/>
              </a:lnSpc>
            </a:pPr>
            <a:r>
              <a:rPr sz="1100" b="0" lang="ko-KR">
                <a:solidFill>
                  <a:srgbClr val="8B96B5"/>
                </a:solidFill>
                <a:latin typeface="맑은 고딕"/>
                <a:ea typeface="맑은 고딕"/>
              </a:rPr>
              <a:t>24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6400800"/>
            <a:ext cx="36576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0000"/>
              </a:lnSpc>
            </a:pPr>
            <a:r>
              <a:rPr sz="1100" b="1" lang="ko-KR">
                <a:solidFill>
                  <a:srgbClr val="8B96B5"/>
                </a:solidFill>
                <a:latin typeface="맑은 고딕"/>
                <a:ea typeface="맑은 고딕"/>
              </a:rPr>
              <a:t>VidShare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